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91" d="100"/>
          <a:sy n="91" d="100"/>
        </p:scale>
        <p:origin x="764" y="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de-DE"/>
  <c:roundedCorners val="1"/>
  <c:style val="2"/>
  <c:chart>
    <c:autoTitleDeleted val="1"/>
    <c:plotArea>
      <c:layout/>
      <c:doughnutChart>
        <c:varyColors val="1"/>
        <c:ser>
          <c:idx val="0"/>
          <c:order val="0"/>
          <c:tx>
            <c:v>Automatisierte Tests</c:v>
          </c:tx>
          <c:dPt>
            <c:idx val="0"/>
            <c:bubble3D val="0"/>
            <c:spPr>
              <a:solidFill>
                <a:srgbClr val="1F7A4D"/>
              </a:solidFill>
            </c:spPr>
            <c:extLst>
              <c:ext xmlns:c16="http://schemas.microsoft.com/office/drawing/2014/chart" uri="{C3380CC4-5D6E-409C-BE32-E72D297353CC}">
                <c16:uniqueId val="{00000001-70AA-472E-857C-6BD8CFA3F931}"/>
              </c:ext>
            </c:extLst>
          </c:dPt>
          <c:dPt>
            <c:idx val="1"/>
            <c:bubble3D val="0"/>
            <c:spPr>
              <a:solidFill>
                <a:srgbClr val="C53B3B"/>
              </a:solidFill>
            </c:spPr>
            <c:extLst>
              <c:ext xmlns:c16="http://schemas.microsoft.com/office/drawing/2014/chart" uri="{C3380CC4-5D6E-409C-BE32-E72D297353CC}">
                <c16:uniqueId val="{00000003-70AA-472E-857C-6BD8CFA3F931}"/>
              </c:ext>
            </c:extLst>
          </c:dPt>
          <c:dLbls>
            <c:spPr>
              <a:noFill/>
              <a:ln>
                <a:noFill/>
              </a:ln>
              <a:effectLst/>
            </c:spPr>
            <c:txPr>
              <a:bodyPr anchorCtr="1"/>
              <a:lstStyle/>
              <a:p>
                <a:pPr>
                  <a:defRPr sz="1350" b="1">
                    <a:solidFill>
                      <a:srgbClr val="FFFFFF"/>
                    </a:solidFill>
                    <a:latin typeface="Bitstream Charter"/>
                    <a:ea typeface="Bitstream Charter"/>
                    <a:cs typeface="Bitstream Charter"/>
                  </a:defRPr>
                </a:pPr>
                <a:endParaRPr lang="de-DE"/>
              </a:p>
            </c:txPr>
            <c:showLegendKey val="0"/>
            <c:showVal val="1"/>
            <c:showCatName val="0"/>
            <c:showSerName val="0"/>
            <c:showPercent val="0"/>
            <c:showBubbleSize val="0"/>
            <c:showLeaderLines val="0"/>
            <c:extLst>
              <c:ext xmlns:c15="http://schemas.microsoft.com/office/drawing/2012/chart" uri="{CE6537A1-D6FC-4f65-9D91-7224C49458BB}"/>
            </c:extLst>
          </c:dLbls>
          <c:cat>
            <c:strRef>
              <c:f>'Chart Data'!$A$2:$A$3</c:f>
              <c:strCache>
                <c:ptCount val="2"/>
                <c:pt idx="0">
                  <c:v>PASS</c:v>
                </c:pt>
                <c:pt idx="1">
                  <c:v>FAIL</c:v>
                </c:pt>
              </c:strCache>
            </c:strRef>
          </c:cat>
          <c:val>
            <c:numRef>
              <c:f>'Chart Data'!$B$2:$B$3</c:f>
              <c:numCache>
                <c:formatCode>General</c:formatCode>
                <c:ptCount val="2"/>
                <c:pt idx="0">
                  <c:v>7</c:v>
                </c:pt>
                <c:pt idx="1">
                  <c:v>4</c:v>
                </c:pt>
              </c:numCache>
            </c:numRef>
          </c:val>
          <c:extLst>
            <c:ext xmlns:c16="http://schemas.microsoft.com/office/drawing/2014/chart" uri="{C3380CC4-5D6E-409C-BE32-E72D297353CC}">
              <c16:uniqueId val="{00000004-70AA-472E-857C-6BD8CFA3F931}"/>
            </c:ext>
          </c:extLst>
        </c:ser>
        <c:dLbls>
          <c:showLegendKey val="0"/>
          <c:showVal val="1"/>
          <c:showCatName val="0"/>
          <c:showSerName val="0"/>
          <c:showPercent val="0"/>
          <c:showBubbleSize val="0"/>
          <c:showLeaderLines val="0"/>
        </c:dLbls>
        <c:firstSliceAng val="0"/>
        <c:holeSize val="62"/>
      </c:doughnutChart>
    </c:plotArea>
    <c:legend>
      <c:legendPos val="b"/>
      <c:overlay val="0"/>
      <c:txPr>
        <a:bodyPr anchorCtr="1"/>
        <a:lstStyle/>
        <a:p>
          <a:pPr>
            <a:defRPr sz="1125">
              <a:solidFill>
                <a:srgbClr val="172B4D"/>
              </a:solidFill>
              <a:latin typeface="Bitstream Charter"/>
              <a:ea typeface="Bitstream Charter"/>
              <a:cs typeface="Bitstream Charter"/>
            </a:defRPr>
          </a:pPr>
          <a:endParaRPr lang="de-DE"/>
        </a:p>
      </c:txPr>
    </c:legend>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Zeit: ca. 25 Sekunden</a:t>
            </a:r>
          </a:p>
          <a:p>
            <a:endParaRPr/>
          </a:p>
          <a:p>
            <a:r>
              <a:t>Ich zeige heute, wie ich den Release Candidate TaskFlow geprüft habe. Im Mittelpunkt stehen die wichtigsten Risiken, die gefundenen Defects, die Korrektur von DEF-02 und meine abschliessende Release-Entscheidung.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Zeit: ca. 45 Sekunden</a:t>
            </a:r>
          </a:p>
          <a:p>
            <a:endParaRPr/>
          </a:p>
          <a:p>
            <a:r>
              <a:t>Das Testobjekt ist die REST-API TaskFlow. Ich habe Login, Taskzugriff, Taskbearbeitung und Validierung geprüft. Das wichtigste Ergebnis vorweg: Der Release erhält ein NO-GO. Zwei offene Sicherheitsdefects besitzen eine hohe Severity und blockieren die Produktivsetzung.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Zeit: ca. 55 Sekunden</a:t>
            </a:r>
          </a:p>
          <a:p>
            <a:endParaRPr/>
          </a:p>
          <a:p>
            <a:r>
              <a:t>Ich habe risikobasiert gearbeitet. Wahrscheinlichkeit und Auswirkung wurden jeweils von eins bis drei bewertet. Vier Risiken erreichten den Höchstwert neun. Deshalb habe ich Security und Berechtigungen zuerst geprüft. Lasttests, produktive Infrastruktur und langfristige Persistenz lagen ausserhalb des Testumfangs.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Zeit: ca. 55 Sekunden</a:t>
            </a:r>
          </a:p>
          <a:p>
            <a:endParaRPr/>
          </a:p>
          <a:p>
            <a:r>
              <a:t>Ich habe 16 wiederholbare Testfälle definiert. Sieben neue Tests erweitern die vorhandene Testsuite. Dazu kommen zehn dokumentierte Postman-Szenarien. Nach dem Fix bestanden sieben von elf automatisierten Tests. Vier Tests schlagen weiterhin fehl und belegen die offenen Defects.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Zeit: ca. 70 Sekunden</a:t>
            </a:r>
          </a:p>
          <a:p>
            <a:endParaRPr/>
          </a:p>
          <a:p>
            <a:r>
              <a:t>Die wichtigsten offenen Defects sind DEF-01 und DEF-05. Links sieht man, dass Alice beide Tasks erhält, obwohl t2 Bob gehört. Rechts führt ungültiges JSON zu HTTP 500. Die Antwort enthält einen Stacktrace und lokale Dateipfade. Beide Defects besitzen hohe Severity und sind release-blockierend.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Zeit: ca. 60 Sekunden</a:t>
            </a:r>
          </a:p>
          <a:p>
            <a:endParaRPr/>
          </a:p>
          <a:p>
            <a:r>
              <a:t>Ich habe DEF-02 korrigiert. Vorher reichte es, dass irgendein Benutzer angemeldet war. Danach prüft die Funktion, ob der Benutzer Administrator oder Eigentümer des Tasks ist. Der Retest bestätigt HTTP 403 für Bob. Der Regressionstest bestätigt, dass Alice ihren eigenen Task weiterhin bearbeiten kann.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Zeit: ca. 55 Sekunden</a:t>
            </a:r>
          </a:p>
          <a:p>
            <a:endParaRPr/>
          </a:p>
          <a:p>
            <a:r>
              <a:t>In der Live-Demo starte ich zuerst npm test. Dabei zeige ich, dass der Test für DEF-02 und der Regressionstest bestehen. Danach sende ich als Bob einen PATCH-Request auf Alices Task. Die API antwortet mit HTTP 403 und verändert den Task nicht.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Zeit: ca. 45 Sekunden</a:t>
            </a:r>
          </a:p>
          <a:p>
            <a:endParaRPr/>
          </a:p>
          <a:p>
            <a:r>
              <a:t>Meine Entscheidung lautet NO-GO. DEF-01 verletzt die Vertraulichkeit und DEF-05 legt interne Informationen offen. Vor einem neuen Release-Entscheid müssen die offenen Defects korrigiert, gezielt retestet und mit einer vollständigen Regression abgesichert werden.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2A43"/>
        </a:solidFill>
        <a:effectLst/>
      </p:bgPr>
    </p:bg>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2139AAAA-82FF-45FA-8EAA-34DDF2058A05}"/>
              </a:ext>
            </a:extLst>
          </p:cNvPr>
          <p:cNvSpPr>
            <a:spLocks noGrp="1"/>
          </p:cNvSpPr>
          <p:nvPr/>
        </p:nvSpPr>
        <p:spPr>
          <a:xfrm>
            <a:off x="800100" y="1571625"/>
            <a:ext cx="10096500" cy="819150"/>
          </a:xfrm>
          <a:prstGeom prst="rect">
            <a:avLst/>
          </a:prstGeom>
          <a:noFill/>
          <a:ln w="0">
            <a:noFill/>
          </a:ln>
        </p:spPr>
        <p:txBody>
          <a:bodyPr anchor="ctr">
            <a:noAutofit/>
          </a:bodyPr>
          <a:lstStyle/>
          <a:p>
            <a:pPr algn="l">
              <a:defRPr sz="3900" b="1">
                <a:solidFill>
                  <a:srgbClr val="FFFFFF"/>
                </a:solidFill>
                <a:latin typeface="Bitstream Charter"/>
                <a:ea typeface="Bitstream Charter"/>
                <a:cs typeface="Bitstream Charter"/>
              </a:defRPr>
            </a:pPr>
            <a:r>
              <a:rPr sz="3900" b="1">
                <a:solidFill>
                  <a:srgbClr val="FFFFFF"/>
                </a:solidFill>
                <a:latin typeface="Bitstream Charter"/>
                <a:ea typeface="Bitstream Charter"/>
                <a:cs typeface="Bitstream Charter"/>
              </a:rPr>
              <a:t>TaskFlow Release Candidate</a:t>
            </a:r>
          </a:p>
        </p:txBody>
      </p:sp>
      <p:sp>
        <p:nvSpPr>
          <p:cNvPr id="2" name="Rechteck 1">
            <a:extLst>
              <a:ext uri="{FF2B5EF4-FFF2-40B4-BE49-F238E27FC236}">
                <a16:creationId xmlns:a16="http://schemas.microsoft.com/office/drawing/2014/main" id="{ECFDCEC2-A6A0-4FA1-AE7B-E5CBF37E9682}"/>
              </a:ext>
            </a:extLst>
          </p:cNvPr>
          <p:cNvSpPr>
            <a:spLocks noGrp="1"/>
          </p:cNvSpPr>
          <p:nvPr/>
        </p:nvSpPr>
        <p:spPr>
          <a:xfrm>
            <a:off x="838200" y="2457450"/>
            <a:ext cx="9525000" cy="514350"/>
          </a:xfrm>
          <a:prstGeom prst="rect">
            <a:avLst/>
          </a:prstGeom>
          <a:noFill/>
          <a:ln w="0">
            <a:noFill/>
          </a:ln>
        </p:spPr>
        <p:txBody>
          <a:bodyPr anchor="ctr">
            <a:noAutofit/>
          </a:bodyPr>
          <a:lstStyle/>
          <a:p>
            <a:pPr algn="l">
              <a:defRPr sz="2025" b="0">
                <a:solidFill>
                  <a:srgbClr val="CFE8FF"/>
                </a:solidFill>
                <a:latin typeface="Bitstream Charter"/>
                <a:ea typeface="Bitstream Charter"/>
                <a:cs typeface="Bitstream Charter"/>
              </a:defRPr>
            </a:pPr>
            <a:r>
              <a:rPr sz="2025" b="0">
                <a:solidFill>
                  <a:srgbClr val="CFE8FF"/>
                </a:solidFill>
                <a:latin typeface="Bitstream Charter"/>
                <a:ea typeface="Bitstream Charter"/>
                <a:cs typeface="Bitstream Charter"/>
              </a:rPr>
              <a:t>Risikobasierte Prüfung und NO-GO-Entscheidung</a:t>
            </a:r>
          </a:p>
        </p:txBody>
      </p:sp>
      <p:sp>
        <p:nvSpPr>
          <p:cNvPr id="3" name="Rechteck 2">
            <a:extLst>
              <a:ext uri="{FF2B5EF4-FFF2-40B4-BE49-F238E27FC236}">
                <a16:creationId xmlns:a16="http://schemas.microsoft.com/office/drawing/2014/main" id="{D9C91BA8-36ED-453B-8623-59FD5FE23843}"/>
              </a:ext>
            </a:extLst>
          </p:cNvPr>
          <p:cNvSpPr>
            <a:spLocks noGrp="1"/>
          </p:cNvSpPr>
          <p:nvPr/>
        </p:nvSpPr>
        <p:spPr>
          <a:xfrm>
            <a:off x="838200" y="3181350"/>
            <a:ext cx="2857500" cy="47625"/>
          </a:xfrm>
          <a:prstGeom prst="rect">
            <a:avLst/>
          </a:prstGeom>
          <a:solidFill>
            <a:srgbClr val="2CB1BC"/>
          </a:solidFill>
          <a:ln w="0">
            <a:noFill/>
          </a:ln>
        </p:spPr>
        <p:txBody>
          <a:bodyPr/>
          <a:lstStyle/>
          <a:p>
            <a:endParaRPr lang="de-CH"/>
          </a:p>
        </p:txBody>
      </p:sp>
      <p:sp>
        <p:nvSpPr>
          <p:cNvPr id="4" name="Rechteck 3">
            <a:extLst>
              <a:ext uri="{FF2B5EF4-FFF2-40B4-BE49-F238E27FC236}">
                <a16:creationId xmlns:a16="http://schemas.microsoft.com/office/drawing/2014/main" id="{3E3CECFB-384A-48E2-AB8F-18448181FF6C}"/>
              </a:ext>
            </a:extLst>
          </p:cNvPr>
          <p:cNvSpPr>
            <a:spLocks noGrp="1"/>
          </p:cNvSpPr>
          <p:nvPr/>
        </p:nvSpPr>
        <p:spPr>
          <a:xfrm>
            <a:off x="838200" y="3638550"/>
            <a:ext cx="5524500" cy="1238250"/>
          </a:xfrm>
          <a:prstGeom prst="rect">
            <a:avLst/>
          </a:prstGeom>
          <a:noFill/>
          <a:ln w="0">
            <a:noFill/>
          </a:ln>
        </p:spPr>
        <p:txBody>
          <a:bodyPr anchor="ctr">
            <a:noAutofit/>
          </a:bodyPr>
          <a:lstStyle/>
          <a:p>
            <a:pPr algn="l">
              <a:defRPr sz="1650" b="0">
                <a:solidFill>
                  <a:srgbClr val="FFFFFF"/>
                </a:solidFill>
                <a:latin typeface="Bitstream Charter"/>
                <a:ea typeface="Bitstream Charter"/>
                <a:cs typeface="Bitstream Charter"/>
              </a:defRPr>
            </a:pPr>
            <a:r>
              <a:rPr sz="1650" b="0">
                <a:solidFill>
                  <a:srgbClr val="FFFFFF"/>
                </a:solidFill>
                <a:latin typeface="Bitstream Charter"/>
                <a:ea typeface="Bitstream Charter"/>
                <a:cs typeface="Bitstream Charter"/>
              </a:rPr>
              <a:t>Modul 450 LB-02</a:t>
            </a:r>
          </a:p>
          <a:p>
            <a:pPr algn="l">
              <a:defRPr sz="1650" b="0">
                <a:solidFill>
                  <a:srgbClr val="FFFFFF"/>
                </a:solidFill>
                <a:latin typeface="Bitstream Charter"/>
                <a:ea typeface="Bitstream Charter"/>
                <a:cs typeface="Bitstream Charter"/>
              </a:defRPr>
            </a:pPr>
            <a:r>
              <a:rPr sz="1650" b="0">
                <a:solidFill>
                  <a:srgbClr val="FFFFFF"/>
                </a:solidFill>
                <a:latin typeface="Bitstream Charter"/>
                <a:ea typeface="Bitstream Charter"/>
                <a:cs typeface="Bitstream Charter"/>
              </a:rPr>
              <a:t>Sladjan Vasic</a:t>
            </a:r>
          </a:p>
          <a:p>
            <a:pPr algn="l">
              <a:defRPr sz="1650" b="0">
                <a:solidFill>
                  <a:srgbClr val="FFFFFF"/>
                </a:solidFill>
                <a:latin typeface="Bitstream Charter"/>
                <a:ea typeface="Bitstream Charter"/>
                <a:cs typeface="Bitstream Charter"/>
              </a:defRPr>
            </a:pPr>
            <a:r>
              <a:rPr sz="1650" b="0">
                <a:solidFill>
                  <a:srgbClr val="FFFFFF"/>
                </a:solidFill>
                <a:latin typeface="Bitstream Charter"/>
                <a:ea typeface="Bitstream Charter"/>
                <a:cs typeface="Bitstream Charter"/>
              </a:rPr>
              <a:t>TaskFlow 1.4.0-rc1</a:t>
            </a:r>
          </a:p>
        </p:txBody>
      </p:sp>
    </p:spTree>
    <p:extLst>
      <p:ext uri="{BB962C8B-B14F-4D97-AF65-F5344CB8AC3E}">
        <p14:creationId xmlns:p14="http://schemas.microsoft.com/office/powerpoint/2010/main" val="21062288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Rechteck 11">
            <a:extLst>
              <a:ext uri="{FF2B5EF4-FFF2-40B4-BE49-F238E27FC236}">
                <a16:creationId xmlns:a16="http://schemas.microsoft.com/office/drawing/2014/main" id="{6D91110D-90E8-4C85-B4CF-C3F6F641B36A}"/>
              </a:ext>
            </a:extLst>
          </p:cNvPr>
          <p:cNvSpPr>
            <a:spLocks noGrp="1"/>
          </p:cNvSpPr>
          <p:nvPr/>
        </p:nvSpPr>
        <p:spPr>
          <a:xfrm>
            <a:off x="666750" y="400050"/>
            <a:ext cx="10858500" cy="552450"/>
          </a:xfrm>
          <a:prstGeom prst="rect">
            <a:avLst/>
          </a:prstGeom>
          <a:noFill/>
          <a:ln w="0">
            <a:noFill/>
          </a:ln>
        </p:spPr>
        <p:txBody>
          <a:bodyPr anchor="ctr">
            <a:noAutofit/>
          </a:bodyPr>
          <a:lstStyle/>
          <a:p>
            <a:pPr algn="l">
              <a:defRPr sz="2700" b="1">
                <a:solidFill>
                  <a:srgbClr val="102A43"/>
                </a:solidFill>
                <a:latin typeface="Bitstream Charter"/>
                <a:ea typeface="Bitstream Charter"/>
                <a:cs typeface="Bitstream Charter"/>
              </a:defRPr>
            </a:pPr>
            <a:r>
              <a:rPr sz="2700" b="1">
                <a:solidFill>
                  <a:srgbClr val="102A43"/>
                </a:solidFill>
                <a:latin typeface="Bitstream Charter"/>
                <a:ea typeface="Bitstream Charter"/>
                <a:cs typeface="Bitstream Charter"/>
              </a:rPr>
              <a:t>Auftrag und Ergebnis</a:t>
            </a:r>
          </a:p>
        </p:txBody>
      </p:sp>
      <p:sp>
        <p:nvSpPr>
          <p:cNvPr id="2" name="Rechteck 1">
            <a:extLst>
              <a:ext uri="{FF2B5EF4-FFF2-40B4-BE49-F238E27FC236}">
                <a16:creationId xmlns:a16="http://schemas.microsoft.com/office/drawing/2014/main" id="{7C377DD8-567A-4819-9D5A-BEF885E5C39D}"/>
              </a:ext>
            </a:extLst>
          </p:cNvPr>
          <p:cNvSpPr>
            <a:spLocks noGrp="1"/>
          </p:cNvSpPr>
          <p:nvPr/>
        </p:nvSpPr>
        <p:spPr>
          <a:xfrm>
            <a:off x="685800" y="962025"/>
            <a:ext cx="10668000" cy="323850"/>
          </a:xfrm>
          <a:prstGeom prst="rect">
            <a:avLst/>
          </a:prstGeom>
          <a:noFill/>
          <a:ln w="0">
            <a:noFill/>
          </a:ln>
        </p:spPr>
        <p:txBody>
          <a:bodyPr anchor="ctr">
            <a:noAutofit/>
          </a:bodyPr>
          <a:lstStyle/>
          <a:p>
            <a:pPr algn="l">
              <a:defRPr sz="1350" b="0">
                <a:solidFill>
                  <a:srgbClr val="52667A"/>
                </a:solidFill>
                <a:latin typeface="Bitstream Charter"/>
                <a:ea typeface="Bitstream Charter"/>
                <a:cs typeface="Bitstream Charter"/>
              </a:defRPr>
            </a:pPr>
            <a:r>
              <a:rPr sz="1350" b="0">
                <a:solidFill>
                  <a:srgbClr val="52667A"/>
                </a:solidFill>
                <a:latin typeface="Bitstream Charter"/>
                <a:ea typeface="Bitstream Charter"/>
                <a:cs typeface="Bitstream Charter"/>
              </a:rPr>
              <a:t>Prüfung einer REST-API vor der Produktivsetzung</a:t>
            </a:r>
          </a:p>
        </p:txBody>
      </p:sp>
      <p:sp>
        <p:nvSpPr>
          <p:cNvPr id="3" name="Rechteck 2">
            <a:extLst>
              <a:ext uri="{FF2B5EF4-FFF2-40B4-BE49-F238E27FC236}">
                <a16:creationId xmlns:a16="http://schemas.microsoft.com/office/drawing/2014/main" id="{96BACF05-8381-4893-8893-8E761BAFCD51}"/>
              </a:ext>
            </a:extLst>
          </p:cNvPr>
          <p:cNvSpPr>
            <a:spLocks noGrp="1"/>
          </p:cNvSpPr>
          <p:nvPr/>
        </p:nvSpPr>
        <p:spPr>
          <a:xfrm>
            <a:off x="685800" y="1381125"/>
            <a:ext cx="1809750" cy="47625"/>
          </a:xfrm>
          <a:prstGeom prst="rect">
            <a:avLst/>
          </a:prstGeom>
          <a:solidFill>
            <a:srgbClr val="2364AA"/>
          </a:solidFill>
          <a:ln w="0">
            <a:noFill/>
          </a:ln>
        </p:spPr>
        <p:txBody>
          <a:bodyPr/>
          <a:lstStyle/>
          <a:p>
            <a:endParaRPr lang="de-CH"/>
          </a:p>
        </p:txBody>
      </p:sp>
      <p:sp>
        <p:nvSpPr>
          <p:cNvPr id="4" name="Rechteck 3">
            <a:extLst>
              <a:ext uri="{FF2B5EF4-FFF2-40B4-BE49-F238E27FC236}">
                <a16:creationId xmlns:a16="http://schemas.microsoft.com/office/drawing/2014/main" id="{DC8D1F34-BD5D-4774-9C10-051DD0A53D6E}"/>
              </a:ext>
            </a:extLst>
          </p:cNvPr>
          <p:cNvSpPr>
            <a:spLocks noGrp="1"/>
          </p:cNvSpPr>
          <p:nvPr/>
        </p:nvSpPr>
        <p:spPr>
          <a:xfrm>
            <a:off x="857250" y="1790700"/>
            <a:ext cx="2667000" cy="381000"/>
          </a:xfrm>
          <a:prstGeom prst="rect">
            <a:avLst/>
          </a:prstGeom>
          <a:noFill/>
          <a:ln w="0">
            <a:noFill/>
          </a:ln>
        </p:spPr>
        <p:txBody>
          <a:bodyPr anchor="ctr">
            <a:noAutofit/>
          </a:bodyPr>
          <a:lstStyle/>
          <a:p>
            <a:pPr algn="l">
              <a:defRPr sz="1725" b="1">
                <a:solidFill>
                  <a:srgbClr val="2364AA"/>
                </a:solidFill>
                <a:latin typeface="Bitstream Charter"/>
                <a:ea typeface="Bitstream Charter"/>
                <a:cs typeface="Bitstream Charter"/>
              </a:defRPr>
            </a:pPr>
            <a:r>
              <a:rPr sz="1725" b="1">
                <a:solidFill>
                  <a:srgbClr val="2364AA"/>
                </a:solidFill>
                <a:latin typeface="Bitstream Charter"/>
                <a:ea typeface="Bitstream Charter"/>
                <a:cs typeface="Bitstream Charter"/>
              </a:rPr>
              <a:t>Testobjekt</a:t>
            </a:r>
          </a:p>
        </p:txBody>
      </p:sp>
      <p:sp>
        <p:nvSpPr>
          <p:cNvPr id="5" name="Rechteck 4">
            <a:extLst>
              <a:ext uri="{FF2B5EF4-FFF2-40B4-BE49-F238E27FC236}">
                <a16:creationId xmlns:a16="http://schemas.microsoft.com/office/drawing/2014/main" id="{918E9F82-C92D-42BD-9CAB-4B6EED909BBC}"/>
              </a:ext>
            </a:extLst>
          </p:cNvPr>
          <p:cNvSpPr>
            <a:spLocks noGrp="1"/>
          </p:cNvSpPr>
          <p:nvPr/>
        </p:nvSpPr>
        <p:spPr>
          <a:xfrm>
            <a:off x="857250" y="2209800"/>
            <a:ext cx="4476750" cy="876300"/>
          </a:xfrm>
          <a:prstGeom prst="rect">
            <a:avLst/>
          </a:prstGeom>
          <a:noFill/>
          <a:ln w="0">
            <a:noFill/>
          </a:ln>
        </p:spPr>
        <p:txBody>
          <a:bodyPr anchor="ctr">
            <a:noAutofit/>
          </a:bodyPr>
          <a:lstStyle/>
          <a:p>
            <a:pPr algn="l">
              <a:defRPr sz="1800" b="0">
                <a:solidFill>
                  <a:srgbClr val="172B4D"/>
                </a:solidFill>
                <a:latin typeface="Bitstream Charter"/>
                <a:ea typeface="Bitstream Charter"/>
                <a:cs typeface="Bitstream Charter"/>
              </a:defRPr>
            </a:pPr>
            <a:r>
              <a:rPr sz="1800" b="0">
                <a:solidFill>
                  <a:srgbClr val="172B4D"/>
                </a:solidFill>
                <a:latin typeface="Bitstream Charter"/>
                <a:ea typeface="Bitstream Charter"/>
                <a:cs typeface="Bitstream Charter"/>
              </a:rPr>
              <a:t>Login sowie Anzeigen, Erstellen und Bearbeiten von Tasks</a:t>
            </a:r>
          </a:p>
        </p:txBody>
      </p:sp>
      <p:sp>
        <p:nvSpPr>
          <p:cNvPr id="6" name="Rechteck 5">
            <a:extLst>
              <a:ext uri="{FF2B5EF4-FFF2-40B4-BE49-F238E27FC236}">
                <a16:creationId xmlns:a16="http://schemas.microsoft.com/office/drawing/2014/main" id="{FC047039-7020-4BD8-ACBF-2050910B85EE}"/>
              </a:ext>
            </a:extLst>
          </p:cNvPr>
          <p:cNvSpPr>
            <a:spLocks noGrp="1"/>
          </p:cNvSpPr>
          <p:nvPr/>
        </p:nvSpPr>
        <p:spPr>
          <a:xfrm>
            <a:off x="857250" y="3476625"/>
            <a:ext cx="2857500" cy="381000"/>
          </a:xfrm>
          <a:prstGeom prst="rect">
            <a:avLst/>
          </a:prstGeom>
          <a:noFill/>
          <a:ln w="0">
            <a:noFill/>
          </a:ln>
        </p:spPr>
        <p:txBody>
          <a:bodyPr anchor="ctr">
            <a:noAutofit/>
          </a:bodyPr>
          <a:lstStyle/>
          <a:p>
            <a:pPr algn="l">
              <a:defRPr sz="1725" b="1">
                <a:solidFill>
                  <a:srgbClr val="2364AA"/>
                </a:solidFill>
                <a:latin typeface="Bitstream Charter"/>
                <a:ea typeface="Bitstream Charter"/>
                <a:cs typeface="Bitstream Charter"/>
              </a:defRPr>
            </a:pPr>
            <a:r>
              <a:rPr sz="1725" b="1">
                <a:solidFill>
                  <a:srgbClr val="2364AA"/>
                </a:solidFill>
                <a:latin typeface="Bitstream Charter"/>
                <a:ea typeface="Bitstream Charter"/>
                <a:cs typeface="Bitstream Charter"/>
              </a:rPr>
              <a:t>Prüfschwerpunkte</a:t>
            </a:r>
          </a:p>
        </p:txBody>
      </p:sp>
      <p:sp>
        <p:nvSpPr>
          <p:cNvPr id="7" name="Rechteck 6">
            <a:extLst>
              <a:ext uri="{FF2B5EF4-FFF2-40B4-BE49-F238E27FC236}">
                <a16:creationId xmlns:a16="http://schemas.microsoft.com/office/drawing/2014/main" id="{20B902D2-9281-46C8-B42B-7B264574714E}"/>
              </a:ext>
            </a:extLst>
          </p:cNvPr>
          <p:cNvSpPr>
            <a:spLocks noGrp="1"/>
          </p:cNvSpPr>
          <p:nvPr/>
        </p:nvSpPr>
        <p:spPr>
          <a:xfrm>
            <a:off x="857250" y="3905250"/>
            <a:ext cx="4476750" cy="1428750"/>
          </a:xfrm>
          <a:prstGeom prst="rect">
            <a:avLst/>
          </a:prstGeom>
          <a:noFill/>
          <a:ln w="0">
            <a:noFill/>
          </a:ln>
        </p:spPr>
        <p:txBody>
          <a:bodyPr anchor="ctr">
            <a:noAutofit/>
          </a:bodyPr>
          <a:lstStyle/>
          <a:p>
            <a:pPr algn="l">
              <a:defRPr sz="1725" b="0">
                <a:solidFill>
                  <a:srgbClr val="172B4D"/>
                </a:solidFill>
                <a:latin typeface="Bitstream Charter"/>
                <a:ea typeface="Bitstream Charter"/>
                <a:cs typeface="Bitstream Charter"/>
              </a:defRPr>
            </a:pPr>
            <a:r>
              <a:rPr sz="1725" b="0">
                <a:solidFill>
                  <a:srgbClr val="172B4D"/>
                </a:solidFill>
                <a:latin typeface="Bitstream Charter"/>
                <a:ea typeface="Bitstream Charter"/>
                <a:cs typeface="Bitstream Charter"/>
              </a:rPr>
              <a:t>Authentifizierung</a:t>
            </a:r>
          </a:p>
          <a:p>
            <a:pPr algn="l">
              <a:defRPr sz="1725" b="0">
                <a:solidFill>
                  <a:srgbClr val="172B4D"/>
                </a:solidFill>
                <a:latin typeface="Bitstream Charter"/>
                <a:ea typeface="Bitstream Charter"/>
                <a:cs typeface="Bitstream Charter"/>
              </a:defRPr>
            </a:pPr>
            <a:r>
              <a:rPr sz="1725" b="0">
                <a:solidFill>
                  <a:srgbClr val="172B4D"/>
                </a:solidFill>
                <a:latin typeface="Bitstream Charter"/>
                <a:ea typeface="Bitstream Charter"/>
                <a:cs typeface="Bitstream Charter"/>
              </a:rPr>
              <a:t>Autorisierung</a:t>
            </a:r>
          </a:p>
          <a:p>
            <a:pPr algn="l">
              <a:defRPr sz="1725" b="0">
                <a:solidFill>
                  <a:srgbClr val="172B4D"/>
                </a:solidFill>
                <a:latin typeface="Bitstream Charter"/>
                <a:ea typeface="Bitstream Charter"/>
                <a:cs typeface="Bitstream Charter"/>
              </a:defRPr>
            </a:pPr>
            <a:r>
              <a:rPr sz="1725" b="0">
                <a:solidFill>
                  <a:srgbClr val="172B4D"/>
                </a:solidFill>
                <a:latin typeface="Bitstream Charter"/>
                <a:ea typeface="Bitstream Charter"/>
                <a:cs typeface="Bitstream Charter"/>
              </a:rPr>
              <a:t>Validierung und Fehlerbehandlung</a:t>
            </a:r>
          </a:p>
        </p:txBody>
      </p:sp>
      <p:sp>
        <p:nvSpPr>
          <p:cNvPr id="8" name="Rechteck 7">
            <a:extLst>
              <a:ext uri="{FF2B5EF4-FFF2-40B4-BE49-F238E27FC236}">
                <a16:creationId xmlns:a16="http://schemas.microsoft.com/office/drawing/2014/main" id="{CAE68AAF-D0D7-4121-A8CB-43E40FB4DBF9}"/>
              </a:ext>
            </a:extLst>
          </p:cNvPr>
          <p:cNvSpPr>
            <a:spLocks noGrp="1"/>
          </p:cNvSpPr>
          <p:nvPr/>
        </p:nvSpPr>
        <p:spPr>
          <a:xfrm>
            <a:off x="6858000" y="2095500"/>
            <a:ext cx="4095750" cy="952500"/>
          </a:xfrm>
          <a:prstGeom prst="rect">
            <a:avLst/>
          </a:prstGeom>
          <a:noFill/>
          <a:ln w="0">
            <a:noFill/>
          </a:ln>
        </p:spPr>
        <p:txBody>
          <a:bodyPr anchor="ctr">
            <a:noAutofit/>
          </a:bodyPr>
          <a:lstStyle/>
          <a:p>
            <a:pPr algn="ctr">
              <a:defRPr sz="4800" b="1">
                <a:solidFill>
                  <a:srgbClr val="C53B3B"/>
                </a:solidFill>
                <a:latin typeface="Bitstream Charter"/>
                <a:ea typeface="Bitstream Charter"/>
                <a:cs typeface="Bitstream Charter"/>
              </a:defRPr>
            </a:pPr>
            <a:r>
              <a:rPr sz="4800" b="1">
                <a:solidFill>
                  <a:srgbClr val="C53B3B"/>
                </a:solidFill>
                <a:latin typeface="Bitstream Charter"/>
                <a:ea typeface="Bitstream Charter"/>
                <a:cs typeface="Bitstream Charter"/>
              </a:rPr>
              <a:t>NO-GO</a:t>
            </a:r>
          </a:p>
        </p:txBody>
      </p:sp>
      <p:sp>
        <p:nvSpPr>
          <p:cNvPr id="9" name="Rechteck 8">
            <a:extLst>
              <a:ext uri="{FF2B5EF4-FFF2-40B4-BE49-F238E27FC236}">
                <a16:creationId xmlns:a16="http://schemas.microsoft.com/office/drawing/2014/main" id="{A45E7783-88DC-4921-AA5B-FE014E48B3FB}"/>
              </a:ext>
            </a:extLst>
          </p:cNvPr>
          <p:cNvSpPr>
            <a:spLocks noGrp="1"/>
          </p:cNvSpPr>
          <p:nvPr/>
        </p:nvSpPr>
        <p:spPr>
          <a:xfrm>
            <a:off x="6810375" y="3143250"/>
            <a:ext cx="4191000" cy="1047750"/>
          </a:xfrm>
          <a:prstGeom prst="rect">
            <a:avLst/>
          </a:prstGeom>
          <a:noFill/>
          <a:ln w="0">
            <a:noFill/>
          </a:ln>
        </p:spPr>
        <p:txBody>
          <a:bodyPr anchor="ctr">
            <a:noAutofit/>
          </a:bodyPr>
          <a:lstStyle/>
          <a:p>
            <a:pPr algn="ctr">
              <a:defRPr sz="1950" b="1">
                <a:solidFill>
                  <a:srgbClr val="102A43"/>
                </a:solidFill>
                <a:latin typeface="Bitstream Charter"/>
                <a:ea typeface="Bitstream Charter"/>
                <a:cs typeface="Bitstream Charter"/>
              </a:defRPr>
            </a:pPr>
            <a:r>
              <a:rPr lang="de-CH" sz="1950" b="1" dirty="0">
                <a:solidFill>
                  <a:srgbClr val="102A43"/>
                </a:solidFill>
                <a:latin typeface="Bitstream Charter"/>
                <a:ea typeface="Bitstream Charter"/>
                <a:cs typeface="Bitstream Charter"/>
              </a:rPr>
              <a:t>Vier</a:t>
            </a:r>
            <a:r>
              <a:rPr sz="1950" b="1" dirty="0">
                <a:solidFill>
                  <a:srgbClr val="102A43"/>
                </a:solidFill>
                <a:latin typeface="Bitstream Charter"/>
                <a:ea typeface="Bitstream Charter"/>
                <a:cs typeface="Bitstream Charter"/>
              </a:rPr>
              <a:t> </a:t>
            </a:r>
            <a:r>
              <a:rPr sz="1950" b="1" dirty="0" err="1">
                <a:solidFill>
                  <a:srgbClr val="102A43"/>
                </a:solidFill>
                <a:latin typeface="Bitstream Charter"/>
                <a:ea typeface="Bitstream Charter"/>
                <a:cs typeface="Bitstream Charter"/>
              </a:rPr>
              <a:t>offene</a:t>
            </a:r>
            <a:r>
              <a:rPr sz="1950" b="1" dirty="0">
                <a:solidFill>
                  <a:srgbClr val="102A43"/>
                </a:solidFill>
                <a:latin typeface="Bitstream Charter"/>
                <a:ea typeface="Bitstream Charter"/>
                <a:cs typeface="Bitstream Charter"/>
              </a:rPr>
              <a:t> Defects </a:t>
            </a:r>
            <a:r>
              <a:rPr sz="1950" b="1" dirty="0" err="1">
                <a:solidFill>
                  <a:srgbClr val="102A43"/>
                </a:solidFill>
                <a:latin typeface="Bitstream Charter"/>
                <a:ea typeface="Bitstream Charter"/>
                <a:cs typeface="Bitstream Charter"/>
              </a:rPr>
              <a:t>mit</a:t>
            </a:r>
            <a:r>
              <a:rPr sz="1950" b="1" dirty="0">
                <a:solidFill>
                  <a:srgbClr val="102A43"/>
                </a:solidFill>
                <a:latin typeface="Bitstream Charter"/>
                <a:ea typeface="Bitstream Charter"/>
                <a:cs typeface="Bitstream Charter"/>
              </a:rPr>
              <a:t> </a:t>
            </a:r>
            <a:r>
              <a:rPr sz="1950" b="1" dirty="0" err="1">
                <a:solidFill>
                  <a:srgbClr val="102A43"/>
                </a:solidFill>
                <a:latin typeface="Bitstream Charter"/>
                <a:ea typeface="Bitstream Charter"/>
                <a:cs typeface="Bitstream Charter"/>
              </a:rPr>
              <a:t>hoher</a:t>
            </a:r>
            <a:r>
              <a:rPr sz="1950" b="1" dirty="0">
                <a:solidFill>
                  <a:srgbClr val="102A43"/>
                </a:solidFill>
                <a:latin typeface="Bitstream Charter"/>
                <a:ea typeface="Bitstream Charter"/>
                <a:cs typeface="Bitstream Charter"/>
              </a:rPr>
              <a:t> Severity </a:t>
            </a:r>
            <a:r>
              <a:rPr sz="1950" b="1" dirty="0" err="1">
                <a:solidFill>
                  <a:srgbClr val="102A43"/>
                </a:solidFill>
                <a:latin typeface="Bitstream Charter"/>
                <a:ea typeface="Bitstream Charter"/>
                <a:cs typeface="Bitstream Charter"/>
              </a:rPr>
              <a:t>blockieren</a:t>
            </a:r>
            <a:r>
              <a:rPr sz="1950" b="1" dirty="0">
                <a:solidFill>
                  <a:srgbClr val="102A43"/>
                </a:solidFill>
                <a:latin typeface="Bitstream Charter"/>
                <a:ea typeface="Bitstream Charter"/>
                <a:cs typeface="Bitstream Charter"/>
              </a:rPr>
              <a:t> den Release</a:t>
            </a:r>
          </a:p>
        </p:txBody>
      </p:sp>
      <p:sp>
        <p:nvSpPr>
          <p:cNvPr id="10" name="Rechteck 9">
            <a:extLst>
              <a:ext uri="{FF2B5EF4-FFF2-40B4-BE49-F238E27FC236}">
                <a16:creationId xmlns:a16="http://schemas.microsoft.com/office/drawing/2014/main" id="{01A15D06-7DA1-480E-B1FC-0D99A93C863E}"/>
              </a:ext>
            </a:extLst>
          </p:cNvPr>
          <p:cNvSpPr>
            <a:spLocks noGrp="1"/>
          </p:cNvSpPr>
          <p:nvPr/>
        </p:nvSpPr>
        <p:spPr>
          <a:xfrm>
            <a:off x="7000875" y="4429125"/>
            <a:ext cx="3810000" cy="952500"/>
          </a:xfrm>
          <a:prstGeom prst="rect">
            <a:avLst/>
          </a:prstGeom>
          <a:noFill/>
          <a:ln w="0">
            <a:noFill/>
          </a:ln>
        </p:spPr>
        <p:txBody>
          <a:bodyPr anchor="ctr">
            <a:noAutofit/>
          </a:bodyPr>
          <a:lstStyle/>
          <a:p>
            <a:pPr algn="ctr">
              <a:defRPr sz="1575" b="0">
                <a:solidFill>
                  <a:srgbClr val="52667A"/>
                </a:solidFill>
                <a:latin typeface="Bitstream Charter"/>
                <a:ea typeface="Bitstream Charter"/>
                <a:cs typeface="Bitstream Charter"/>
              </a:defRPr>
            </a:pPr>
            <a:r>
              <a:rPr sz="1575" b="0" dirty="0">
                <a:solidFill>
                  <a:srgbClr val="52667A"/>
                </a:solidFill>
                <a:latin typeface="Bitstream Charter"/>
                <a:ea typeface="Bitstream Charter"/>
                <a:cs typeface="Bitstream Charter"/>
              </a:rPr>
              <a:t>DEF-01  </a:t>
            </a:r>
            <a:r>
              <a:rPr sz="1575" b="0" dirty="0" err="1">
                <a:solidFill>
                  <a:srgbClr val="52667A"/>
                </a:solidFill>
                <a:latin typeface="Bitstream Charter"/>
                <a:ea typeface="Bitstream Charter"/>
                <a:cs typeface="Bitstream Charter"/>
              </a:rPr>
              <a:t>Fremde</a:t>
            </a:r>
            <a:r>
              <a:rPr sz="1575" b="0" dirty="0">
                <a:solidFill>
                  <a:srgbClr val="52667A"/>
                </a:solidFill>
                <a:latin typeface="Bitstream Charter"/>
                <a:ea typeface="Bitstream Charter"/>
                <a:cs typeface="Bitstream Charter"/>
              </a:rPr>
              <a:t> Tasks </a:t>
            </a:r>
            <a:r>
              <a:rPr sz="1575" b="0" dirty="0" err="1">
                <a:solidFill>
                  <a:srgbClr val="52667A"/>
                </a:solidFill>
                <a:latin typeface="Bitstream Charter"/>
                <a:ea typeface="Bitstream Charter"/>
                <a:cs typeface="Bitstream Charter"/>
              </a:rPr>
              <a:t>sichtbar</a:t>
            </a:r>
            <a:endParaRPr sz="1575" b="0" dirty="0">
              <a:solidFill>
                <a:srgbClr val="52667A"/>
              </a:solidFill>
              <a:latin typeface="Bitstream Charter"/>
              <a:ea typeface="Bitstream Charter"/>
              <a:cs typeface="Bitstream Charter"/>
            </a:endParaRPr>
          </a:p>
          <a:p>
            <a:pPr algn="ctr">
              <a:defRPr sz="1575" b="0">
                <a:solidFill>
                  <a:srgbClr val="52667A"/>
                </a:solidFill>
                <a:latin typeface="Bitstream Charter"/>
                <a:ea typeface="Bitstream Charter"/>
                <a:cs typeface="Bitstream Charter"/>
              </a:defRPr>
            </a:pPr>
            <a:r>
              <a:rPr sz="1575" b="0" dirty="0">
                <a:solidFill>
                  <a:srgbClr val="52667A"/>
                </a:solidFill>
                <a:latin typeface="Bitstream Charter"/>
                <a:ea typeface="Bitstream Charter"/>
                <a:cs typeface="Bitstream Charter"/>
              </a:rPr>
              <a:t>DEF-05  Interne </a:t>
            </a:r>
            <a:r>
              <a:rPr sz="1575" b="0" dirty="0" err="1">
                <a:solidFill>
                  <a:srgbClr val="52667A"/>
                </a:solidFill>
                <a:latin typeface="Bitstream Charter"/>
                <a:ea typeface="Bitstream Charter"/>
                <a:cs typeface="Bitstream Charter"/>
              </a:rPr>
              <a:t>Fehlerdetails</a:t>
            </a:r>
            <a:r>
              <a:rPr sz="1575" b="0" dirty="0">
                <a:solidFill>
                  <a:srgbClr val="52667A"/>
                </a:solidFill>
                <a:latin typeface="Bitstream Charter"/>
                <a:ea typeface="Bitstream Charter"/>
                <a:cs typeface="Bitstream Charter"/>
              </a:rPr>
              <a:t> </a:t>
            </a:r>
            <a:r>
              <a:rPr sz="1575" b="0" dirty="0" err="1">
                <a:solidFill>
                  <a:srgbClr val="52667A"/>
                </a:solidFill>
                <a:latin typeface="Bitstream Charter"/>
                <a:ea typeface="Bitstream Charter"/>
                <a:cs typeface="Bitstream Charter"/>
              </a:rPr>
              <a:t>offengelegt</a:t>
            </a:r>
            <a:endParaRPr lang="de-CH" sz="1575" b="0" dirty="0">
              <a:solidFill>
                <a:srgbClr val="52667A"/>
              </a:solidFill>
              <a:latin typeface="Bitstream Charter"/>
              <a:ea typeface="Bitstream Charter"/>
              <a:cs typeface="Bitstream Charter"/>
            </a:endParaRPr>
          </a:p>
          <a:p>
            <a:pPr algn="ctr">
              <a:defRPr sz="1575" b="0">
                <a:solidFill>
                  <a:srgbClr val="52667A"/>
                </a:solidFill>
                <a:latin typeface="Bitstream Charter"/>
                <a:ea typeface="Bitstream Charter"/>
                <a:cs typeface="Bitstream Charter"/>
              </a:defRPr>
            </a:pPr>
            <a:r>
              <a:rPr lang="de-DE" sz="1575" dirty="0">
                <a:solidFill>
                  <a:srgbClr val="52667A"/>
                </a:solidFill>
                <a:latin typeface="Bitstream Charter"/>
                <a:ea typeface="Bitstream Charter"/>
                <a:cs typeface="Bitstream Charter"/>
              </a:rPr>
              <a:t>DEF-06  Sperrung erst nach sechs Fehlversuchen</a:t>
            </a:r>
          </a:p>
          <a:p>
            <a:pPr algn="ctr">
              <a:defRPr sz="1575" b="0">
                <a:solidFill>
                  <a:srgbClr val="52667A"/>
                </a:solidFill>
                <a:latin typeface="Bitstream Charter"/>
                <a:ea typeface="Bitstream Charter"/>
                <a:cs typeface="Bitstream Charter"/>
              </a:defRPr>
            </a:pPr>
            <a:r>
              <a:rPr lang="de-DE" sz="1575" dirty="0">
                <a:solidFill>
                  <a:srgbClr val="52667A"/>
                </a:solidFill>
                <a:latin typeface="Bitstream Charter"/>
                <a:ea typeface="Bitstream Charter"/>
                <a:cs typeface="Bitstream Charter"/>
              </a:rPr>
              <a:t>DEF-07  Fehlversuchszähler bleibt nach Login bestehen</a:t>
            </a:r>
            <a:endParaRPr sz="1575" b="0" dirty="0">
              <a:solidFill>
                <a:srgbClr val="52667A"/>
              </a:solidFill>
              <a:latin typeface="Bitstream Charter"/>
              <a:ea typeface="Bitstream Charter"/>
              <a:cs typeface="Bitstream Charter"/>
            </a:endParaRPr>
          </a:p>
        </p:txBody>
      </p:sp>
      <p:sp>
        <p:nvSpPr>
          <p:cNvPr id="11" name="Rechteck 10">
            <a:extLst>
              <a:ext uri="{FF2B5EF4-FFF2-40B4-BE49-F238E27FC236}">
                <a16:creationId xmlns:a16="http://schemas.microsoft.com/office/drawing/2014/main" id="{CBD8B9C2-DE5D-4CA3-A432-B5A4138FCBDA}"/>
              </a:ext>
            </a:extLst>
          </p:cNvPr>
          <p:cNvSpPr>
            <a:spLocks noGrp="1"/>
          </p:cNvSpPr>
          <p:nvPr/>
        </p:nvSpPr>
        <p:spPr>
          <a:xfrm>
            <a:off x="685800" y="6496050"/>
            <a:ext cx="10820400" cy="209550"/>
          </a:xfrm>
          <a:prstGeom prst="rect">
            <a:avLst/>
          </a:prstGeom>
          <a:noFill/>
          <a:ln w="0">
            <a:noFill/>
          </a:ln>
        </p:spPr>
        <p:txBody>
          <a:bodyPr anchor="ctr">
            <a:noAutofit/>
          </a:bodyPr>
          <a:lstStyle/>
          <a:p>
            <a:pPr algn="r">
              <a:defRPr sz="900" b="0">
                <a:solidFill>
                  <a:srgbClr val="78909C"/>
                </a:solidFill>
                <a:latin typeface="Bitstream Charter"/>
                <a:ea typeface="Bitstream Charter"/>
                <a:cs typeface="Bitstream Charter"/>
              </a:defRPr>
            </a:pPr>
            <a:r>
              <a:rPr sz="900" b="0">
                <a:solidFill>
                  <a:srgbClr val="78909C"/>
                </a:solidFill>
                <a:latin typeface="Bitstream Charter"/>
                <a:ea typeface="Bitstream Charter"/>
                <a:cs typeface="Bitstream Charter"/>
              </a:rPr>
              <a:t>M450 LB-02   Sladjan Vasic                                      2</a:t>
            </a:r>
          </a:p>
        </p:txBody>
      </p:sp>
    </p:spTree>
    <p:extLst>
      <p:ext uri="{BB962C8B-B14F-4D97-AF65-F5344CB8AC3E}">
        <p14:creationId xmlns:p14="http://schemas.microsoft.com/office/powerpoint/2010/main" val="6885984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1D5B7424-9017-4577-8530-DEBC6D9AE6E9}"/>
              </a:ext>
            </a:extLst>
          </p:cNvPr>
          <p:cNvSpPr>
            <a:spLocks noGrp="1"/>
          </p:cNvSpPr>
          <p:nvPr/>
        </p:nvSpPr>
        <p:spPr>
          <a:xfrm>
            <a:off x="666750" y="400050"/>
            <a:ext cx="10858500" cy="552450"/>
          </a:xfrm>
          <a:prstGeom prst="rect">
            <a:avLst/>
          </a:prstGeom>
          <a:noFill/>
          <a:ln w="0">
            <a:noFill/>
          </a:ln>
        </p:spPr>
        <p:txBody>
          <a:bodyPr anchor="ctr">
            <a:noAutofit/>
          </a:bodyPr>
          <a:lstStyle/>
          <a:p>
            <a:pPr algn="l">
              <a:defRPr sz="2700" b="1">
                <a:solidFill>
                  <a:srgbClr val="102A43"/>
                </a:solidFill>
                <a:latin typeface="Bitstream Charter"/>
                <a:ea typeface="Bitstream Charter"/>
                <a:cs typeface="Bitstream Charter"/>
              </a:defRPr>
            </a:pPr>
            <a:r>
              <a:rPr sz="2700" b="1">
                <a:solidFill>
                  <a:srgbClr val="102A43"/>
                </a:solidFill>
                <a:latin typeface="Bitstream Charter"/>
                <a:ea typeface="Bitstream Charter"/>
                <a:cs typeface="Bitstream Charter"/>
              </a:rPr>
              <a:t>Teststrategie und Top-Risiken</a:t>
            </a:r>
          </a:p>
        </p:txBody>
      </p:sp>
      <p:sp>
        <p:nvSpPr>
          <p:cNvPr id="2" name="Rechteck 1">
            <a:extLst>
              <a:ext uri="{FF2B5EF4-FFF2-40B4-BE49-F238E27FC236}">
                <a16:creationId xmlns:a16="http://schemas.microsoft.com/office/drawing/2014/main" id="{0E1852BC-84F6-42D2-8273-CCB73A34068E}"/>
              </a:ext>
            </a:extLst>
          </p:cNvPr>
          <p:cNvSpPr>
            <a:spLocks noGrp="1"/>
          </p:cNvSpPr>
          <p:nvPr/>
        </p:nvSpPr>
        <p:spPr>
          <a:xfrm>
            <a:off x="685800" y="962025"/>
            <a:ext cx="10668000" cy="323850"/>
          </a:xfrm>
          <a:prstGeom prst="rect">
            <a:avLst/>
          </a:prstGeom>
          <a:noFill/>
          <a:ln w="0">
            <a:noFill/>
          </a:ln>
        </p:spPr>
        <p:txBody>
          <a:bodyPr anchor="ctr">
            <a:noAutofit/>
          </a:bodyPr>
          <a:lstStyle/>
          <a:p>
            <a:pPr algn="l">
              <a:defRPr sz="1350" b="0">
                <a:solidFill>
                  <a:srgbClr val="52667A"/>
                </a:solidFill>
                <a:latin typeface="Bitstream Charter"/>
                <a:ea typeface="Bitstream Charter"/>
                <a:cs typeface="Bitstream Charter"/>
              </a:defRPr>
            </a:pPr>
            <a:r>
              <a:rPr sz="1350" b="0">
                <a:solidFill>
                  <a:srgbClr val="52667A"/>
                </a:solidFill>
                <a:latin typeface="Bitstream Charter"/>
                <a:ea typeface="Bitstream Charter"/>
                <a:cs typeface="Bitstream Charter"/>
              </a:rPr>
              <a:t>Hohe Risiken zuerst, danach fachliche Validierung</a:t>
            </a:r>
          </a:p>
        </p:txBody>
      </p:sp>
      <p:graphicFrame>
        <p:nvGraphicFramePr>
          <p:cNvPr id="9" name="Tabelle 8"/>
          <p:cNvGraphicFramePr/>
          <p:nvPr/>
        </p:nvGraphicFramePr>
        <p:xfrm>
          <a:off x="685800" y="1619250"/>
          <a:ext cx="10810875" cy="3429000"/>
        </p:xfrm>
        <a:graphic>
          <a:graphicData uri="http://schemas.openxmlformats.org/drawingml/2006/table">
            <a:tbl>
              <a:tblPr firstRow="1" bandRow="1"/>
              <a:tblGrid>
                <a:gridCol w="371475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7620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4619625">
                  <a:extLst>
                    <a:ext uri="{9D8B030D-6E8A-4147-A177-3AD203B41FA5}">
                      <a16:colId xmlns:a16="http://schemas.microsoft.com/office/drawing/2014/main" val="20004"/>
                    </a:ext>
                  </a:extLst>
                </a:gridCol>
              </a:tblGrid>
              <a:tr h="571500">
                <a:tc>
                  <a:txBody>
                    <a:bodyPr/>
                    <a:lstStyle/>
                    <a:p>
                      <a:r>
                        <a:rPr sz="1350" b="1">
                          <a:solidFill>
                            <a:srgbClr val="FFFFFF"/>
                          </a:solidFill>
                          <a:latin typeface="Bitstream Charter"/>
                          <a:ea typeface="Bitstream Charter"/>
                          <a:cs typeface="Bitstream Charter"/>
                        </a:rPr>
                        <a:t>Risiko</a:t>
                      </a:r>
                    </a:p>
                  </a:txBody>
                  <a:tcPr>
                    <a:solidFill>
                      <a:srgbClr val="102A43"/>
                    </a:solidFill>
                  </a:tcPr>
                </a:tc>
                <a:tc>
                  <a:txBody>
                    <a:bodyPr/>
                    <a:lstStyle/>
                    <a:p>
                      <a:r>
                        <a:rPr sz="1350" b="1">
                          <a:solidFill>
                            <a:srgbClr val="FFFFFF"/>
                          </a:solidFill>
                          <a:latin typeface="Bitstream Charter"/>
                          <a:ea typeface="Bitstream Charter"/>
                          <a:cs typeface="Bitstream Charter"/>
                        </a:rPr>
                        <a:t>W</a:t>
                      </a:r>
                    </a:p>
                  </a:txBody>
                  <a:tcPr>
                    <a:solidFill>
                      <a:srgbClr val="102A43"/>
                    </a:solidFill>
                  </a:tcPr>
                </a:tc>
                <a:tc>
                  <a:txBody>
                    <a:bodyPr/>
                    <a:lstStyle/>
                    <a:p>
                      <a:r>
                        <a:rPr sz="1350" b="1">
                          <a:solidFill>
                            <a:srgbClr val="FFFFFF"/>
                          </a:solidFill>
                          <a:latin typeface="Bitstream Charter"/>
                          <a:ea typeface="Bitstream Charter"/>
                          <a:cs typeface="Bitstream Charter"/>
                        </a:rPr>
                        <a:t>A</a:t>
                      </a:r>
                    </a:p>
                  </a:txBody>
                  <a:tcPr>
                    <a:solidFill>
                      <a:srgbClr val="102A43"/>
                    </a:solidFill>
                  </a:tcPr>
                </a:tc>
                <a:tc>
                  <a:txBody>
                    <a:bodyPr/>
                    <a:lstStyle/>
                    <a:p>
                      <a:r>
                        <a:rPr sz="1350" b="1">
                          <a:solidFill>
                            <a:srgbClr val="FFFFFF"/>
                          </a:solidFill>
                          <a:latin typeface="Bitstream Charter"/>
                          <a:ea typeface="Bitstream Charter"/>
                          <a:cs typeface="Bitstream Charter"/>
                        </a:rPr>
                        <a:t>Wert</a:t>
                      </a:r>
                    </a:p>
                  </a:txBody>
                  <a:tcPr>
                    <a:solidFill>
                      <a:srgbClr val="102A43"/>
                    </a:solidFill>
                  </a:tcPr>
                </a:tc>
                <a:tc>
                  <a:txBody>
                    <a:bodyPr/>
                    <a:lstStyle/>
                    <a:p>
                      <a:r>
                        <a:rPr sz="1350" b="1">
                          <a:solidFill>
                            <a:srgbClr val="FFFFFF"/>
                          </a:solidFill>
                          <a:latin typeface="Bitstream Charter"/>
                          <a:ea typeface="Bitstream Charter"/>
                          <a:cs typeface="Bitstream Charter"/>
                        </a:rPr>
                        <a:t>Testansatz</a:t>
                      </a:r>
                    </a:p>
                  </a:txBody>
                  <a:tcPr>
                    <a:solidFill>
                      <a:srgbClr val="102A43"/>
                    </a:solidFill>
                  </a:tcPr>
                </a:tc>
                <a:extLst>
                  <a:ext uri="{0D108BD9-81ED-4DB2-BD59-A6C34878D82A}">
                    <a16:rowId xmlns:a16="http://schemas.microsoft.com/office/drawing/2014/main" val="10000"/>
                  </a:ext>
                </a:extLst>
              </a:tr>
              <a:tr h="571500">
                <a:tc>
                  <a:txBody>
                    <a:bodyPr/>
                    <a:lstStyle/>
                    <a:p>
                      <a:r>
                        <a:rPr sz="1275">
                          <a:solidFill>
                            <a:srgbClr val="172B4D"/>
                          </a:solidFill>
                          <a:latin typeface="Bitstream Charter"/>
                          <a:ea typeface="Bitstream Charter"/>
                          <a:cs typeface="Bitstream Charter"/>
                        </a:rPr>
                        <a:t>Fremde Tasks sichtbar</a:t>
                      </a:r>
                    </a:p>
                  </a:txBody>
                  <a:tcPr/>
                </a:tc>
                <a:tc>
                  <a:txBody>
                    <a:bodyPr/>
                    <a:lstStyle/>
                    <a:p>
                      <a:r>
                        <a:rPr sz="1275">
                          <a:solidFill>
                            <a:srgbClr val="172B4D"/>
                          </a:solidFill>
                          <a:latin typeface="Bitstream Charter"/>
                          <a:ea typeface="Bitstream Charter"/>
                          <a:cs typeface="Bitstream Charter"/>
                        </a:rPr>
                        <a:t>3</a:t>
                      </a:r>
                    </a:p>
                  </a:txBody>
                  <a:tcPr/>
                </a:tc>
                <a:tc>
                  <a:txBody>
                    <a:bodyPr/>
                    <a:lstStyle/>
                    <a:p>
                      <a:r>
                        <a:rPr sz="1275">
                          <a:solidFill>
                            <a:srgbClr val="172B4D"/>
                          </a:solidFill>
                          <a:latin typeface="Bitstream Charter"/>
                          <a:ea typeface="Bitstream Charter"/>
                          <a:cs typeface="Bitstream Charter"/>
                        </a:rPr>
                        <a:t>3</a:t>
                      </a:r>
                    </a:p>
                  </a:txBody>
                  <a:tcPr/>
                </a:tc>
                <a:tc>
                  <a:txBody>
                    <a:bodyPr/>
                    <a:lstStyle/>
                    <a:p>
                      <a:r>
                        <a:rPr sz="1350" b="1">
                          <a:solidFill>
                            <a:srgbClr val="C53B3B"/>
                          </a:solidFill>
                          <a:latin typeface="Bitstream Charter"/>
                          <a:ea typeface="Bitstream Charter"/>
                          <a:cs typeface="Bitstream Charter"/>
                        </a:rPr>
                        <a:t>9</a:t>
                      </a:r>
                    </a:p>
                  </a:txBody>
                  <a:tcPr>
                    <a:solidFill>
                      <a:srgbClr val="FDECEC"/>
                    </a:solidFill>
                  </a:tcPr>
                </a:tc>
                <a:tc>
                  <a:txBody>
                    <a:bodyPr/>
                    <a:lstStyle/>
                    <a:p>
                      <a:r>
                        <a:rPr sz="1275">
                          <a:solidFill>
                            <a:srgbClr val="172B4D"/>
                          </a:solidFill>
                          <a:latin typeface="Bitstream Charter"/>
                          <a:ea typeface="Bitstream Charter"/>
                          <a:cs typeface="Bitstream Charter"/>
                        </a:rPr>
                        <a:t>API, Security</a:t>
                      </a:r>
                    </a:p>
                  </a:txBody>
                  <a:tcPr/>
                </a:tc>
                <a:extLst>
                  <a:ext uri="{0D108BD9-81ED-4DB2-BD59-A6C34878D82A}">
                    <a16:rowId xmlns:a16="http://schemas.microsoft.com/office/drawing/2014/main" val="10001"/>
                  </a:ext>
                </a:extLst>
              </a:tr>
              <a:tr h="571500">
                <a:tc>
                  <a:txBody>
                    <a:bodyPr/>
                    <a:lstStyle/>
                    <a:p>
                      <a:r>
                        <a:rPr sz="1275">
                          <a:solidFill>
                            <a:srgbClr val="172B4D"/>
                          </a:solidFill>
                          <a:latin typeface="Bitstream Charter"/>
                          <a:ea typeface="Bitstream Charter"/>
                          <a:cs typeface="Bitstream Charter"/>
                        </a:rPr>
                        <a:t>Fremde Tasks änderbar</a:t>
                      </a:r>
                    </a:p>
                  </a:txBody>
                  <a:tcPr/>
                </a:tc>
                <a:tc>
                  <a:txBody>
                    <a:bodyPr/>
                    <a:lstStyle/>
                    <a:p>
                      <a:r>
                        <a:rPr sz="1275">
                          <a:solidFill>
                            <a:srgbClr val="172B4D"/>
                          </a:solidFill>
                          <a:latin typeface="Bitstream Charter"/>
                          <a:ea typeface="Bitstream Charter"/>
                          <a:cs typeface="Bitstream Charter"/>
                        </a:rPr>
                        <a:t>3</a:t>
                      </a:r>
                    </a:p>
                  </a:txBody>
                  <a:tcPr/>
                </a:tc>
                <a:tc>
                  <a:txBody>
                    <a:bodyPr/>
                    <a:lstStyle/>
                    <a:p>
                      <a:r>
                        <a:rPr sz="1275">
                          <a:solidFill>
                            <a:srgbClr val="172B4D"/>
                          </a:solidFill>
                          <a:latin typeface="Bitstream Charter"/>
                          <a:ea typeface="Bitstream Charter"/>
                          <a:cs typeface="Bitstream Charter"/>
                        </a:rPr>
                        <a:t>3</a:t>
                      </a:r>
                    </a:p>
                  </a:txBody>
                  <a:tcPr/>
                </a:tc>
                <a:tc>
                  <a:txBody>
                    <a:bodyPr/>
                    <a:lstStyle/>
                    <a:p>
                      <a:r>
                        <a:rPr sz="1350" b="1">
                          <a:solidFill>
                            <a:srgbClr val="C53B3B"/>
                          </a:solidFill>
                          <a:latin typeface="Bitstream Charter"/>
                          <a:ea typeface="Bitstream Charter"/>
                          <a:cs typeface="Bitstream Charter"/>
                        </a:rPr>
                        <a:t>9</a:t>
                      </a:r>
                    </a:p>
                  </a:txBody>
                  <a:tcPr>
                    <a:solidFill>
                      <a:srgbClr val="FDECEC"/>
                    </a:solidFill>
                  </a:tcPr>
                </a:tc>
                <a:tc>
                  <a:txBody>
                    <a:bodyPr/>
                    <a:lstStyle/>
                    <a:p>
                      <a:r>
                        <a:rPr sz="1275">
                          <a:solidFill>
                            <a:srgbClr val="172B4D"/>
                          </a:solidFill>
                          <a:latin typeface="Bitstream Charter"/>
                          <a:ea typeface="Bitstream Charter"/>
                          <a:cs typeface="Bitstream Charter"/>
                        </a:rPr>
                        <a:t>Service, API</a:t>
                      </a:r>
                    </a:p>
                  </a:txBody>
                  <a:tcPr/>
                </a:tc>
                <a:extLst>
                  <a:ext uri="{0D108BD9-81ED-4DB2-BD59-A6C34878D82A}">
                    <a16:rowId xmlns:a16="http://schemas.microsoft.com/office/drawing/2014/main" val="10002"/>
                  </a:ext>
                </a:extLst>
              </a:tr>
              <a:tr h="571500">
                <a:tc>
                  <a:txBody>
                    <a:bodyPr/>
                    <a:lstStyle/>
                    <a:p>
                      <a:r>
                        <a:rPr sz="1275">
                          <a:solidFill>
                            <a:srgbClr val="172B4D"/>
                          </a:solidFill>
                          <a:latin typeface="Bitstream Charter"/>
                          <a:ea typeface="Bitstream Charter"/>
                          <a:cs typeface="Bitstream Charter"/>
                        </a:rPr>
                        <a:t>Kontosperrung fehlerhaft</a:t>
                      </a:r>
                    </a:p>
                  </a:txBody>
                  <a:tcPr/>
                </a:tc>
                <a:tc>
                  <a:txBody>
                    <a:bodyPr/>
                    <a:lstStyle/>
                    <a:p>
                      <a:r>
                        <a:rPr sz="1275">
                          <a:solidFill>
                            <a:srgbClr val="172B4D"/>
                          </a:solidFill>
                          <a:latin typeface="Bitstream Charter"/>
                          <a:ea typeface="Bitstream Charter"/>
                          <a:cs typeface="Bitstream Charter"/>
                        </a:rPr>
                        <a:t>3</a:t>
                      </a:r>
                    </a:p>
                  </a:txBody>
                  <a:tcPr/>
                </a:tc>
                <a:tc>
                  <a:txBody>
                    <a:bodyPr/>
                    <a:lstStyle/>
                    <a:p>
                      <a:r>
                        <a:rPr sz="1275">
                          <a:solidFill>
                            <a:srgbClr val="172B4D"/>
                          </a:solidFill>
                          <a:latin typeface="Bitstream Charter"/>
                          <a:ea typeface="Bitstream Charter"/>
                          <a:cs typeface="Bitstream Charter"/>
                        </a:rPr>
                        <a:t>3</a:t>
                      </a:r>
                    </a:p>
                  </a:txBody>
                  <a:tcPr/>
                </a:tc>
                <a:tc>
                  <a:txBody>
                    <a:bodyPr/>
                    <a:lstStyle/>
                    <a:p>
                      <a:r>
                        <a:rPr sz="1350" b="1">
                          <a:solidFill>
                            <a:srgbClr val="C53B3B"/>
                          </a:solidFill>
                          <a:latin typeface="Bitstream Charter"/>
                          <a:ea typeface="Bitstream Charter"/>
                          <a:cs typeface="Bitstream Charter"/>
                        </a:rPr>
                        <a:t>9</a:t>
                      </a:r>
                    </a:p>
                  </a:txBody>
                  <a:tcPr>
                    <a:solidFill>
                      <a:srgbClr val="FDECEC"/>
                    </a:solidFill>
                  </a:tcPr>
                </a:tc>
                <a:tc>
                  <a:txBody>
                    <a:bodyPr/>
                    <a:lstStyle/>
                    <a:p>
                      <a:r>
                        <a:rPr sz="1275">
                          <a:solidFill>
                            <a:srgbClr val="172B4D"/>
                          </a:solidFill>
                          <a:latin typeface="Bitstream Charter"/>
                          <a:ea typeface="Bitstream Charter"/>
                          <a:cs typeface="Bitstream Charter"/>
                        </a:rPr>
                        <a:t>Grenzwert</a:t>
                      </a:r>
                    </a:p>
                  </a:txBody>
                  <a:tcPr/>
                </a:tc>
                <a:extLst>
                  <a:ext uri="{0D108BD9-81ED-4DB2-BD59-A6C34878D82A}">
                    <a16:rowId xmlns:a16="http://schemas.microsoft.com/office/drawing/2014/main" val="10003"/>
                  </a:ext>
                </a:extLst>
              </a:tr>
              <a:tr h="571500">
                <a:tc>
                  <a:txBody>
                    <a:bodyPr/>
                    <a:lstStyle/>
                    <a:p>
                      <a:r>
                        <a:rPr sz="1275">
                          <a:solidFill>
                            <a:srgbClr val="172B4D"/>
                          </a:solidFill>
                          <a:latin typeface="Bitstream Charter"/>
                          <a:ea typeface="Bitstream Charter"/>
                          <a:cs typeface="Bitstream Charter"/>
                        </a:rPr>
                        <a:t>Ungültige Taskdaten</a:t>
                      </a:r>
                    </a:p>
                  </a:txBody>
                  <a:tcPr/>
                </a:tc>
                <a:tc>
                  <a:txBody>
                    <a:bodyPr/>
                    <a:lstStyle/>
                    <a:p>
                      <a:r>
                        <a:rPr sz="1275">
                          <a:solidFill>
                            <a:srgbClr val="172B4D"/>
                          </a:solidFill>
                          <a:latin typeface="Bitstream Charter"/>
                          <a:ea typeface="Bitstream Charter"/>
                          <a:cs typeface="Bitstream Charter"/>
                        </a:rPr>
                        <a:t>3</a:t>
                      </a:r>
                    </a:p>
                  </a:txBody>
                  <a:tcPr/>
                </a:tc>
                <a:tc>
                  <a:txBody>
                    <a:bodyPr/>
                    <a:lstStyle/>
                    <a:p>
                      <a:r>
                        <a:rPr sz="1275">
                          <a:solidFill>
                            <a:srgbClr val="172B4D"/>
                          </a:solidFill>
                          <a:latin typeface="Bitstream Charter"/>
                          <a:ea typeface="Bitstream Charter"/>
                          <a:cs typeface="Bitstream Charter"/>
                        </a:rPr>
                        <a:t>2</a:t>
                      </a:r>
                    </a:p>
                  </a:txBody>
                  <a:tcPr/>
                </a:tc>
                <a:tc>
                  <a:txBody>
                    <a:bodyPr/>
                    <a:lstStyle/>
                    <a:p>
                      <a:r>
                        <a:rPr sz="1350" b="1">
                          <a:solidFill>
                            <a:srgbClr val="D97706"/>
                          </a:solidFill>
                          <a:latin typeface="Bitstream Charter"/>
                          <a:ea typeface="Bitstream Charter"/>
                          <a:cs typeface="Bitstream Charter"/>
                        </a:rPr>
                        <a:t>6</a:t>
                      </a:r>
                    </a:p>
                  </a:txBody>
                  <a:tcPr>
                    <a:solidFill>
                      <a:srgbClr val="FFF5E5"/>
                    </a:solidFill>
                  </a:tcPr>
                </a:tc>
                <a:tc>
                  <a:txBody>
                    <a:bodyPr/>
                    <a:lstStyle/>
                    <a:p>
                      <a:r>
                        <a:rPr sz="1275">
                          <a:solidFill>
                            <a:srgbClr val="172B4D"/>
                          </a:solidFill>
                          <a:latin typeface="Bitstream Charter"/>
                          <a:ea typeface="Bitstream Charter"/>
                          <a:cs typeface="Bitstream Charter"/>
                        </a:rPr>
                        <a:t>Unit, API</a:t>
                      </a:r>
                    </a:p>
                  </a:txBody>
                  <a:tcPr/>
                </a:tc>
                <a:extLst>
                  <a:ext uri="{0D108BD9-81ED-4DB2-BD59-A6C34878D82A}">
                    <a16:rowId xmlns:a16="http://schemas.microsoft.com/office/drawing/2014/main" val="10004"/>
                  </a:ext>
                </a:extLst>
              </a:tr>
              <a:tr h="571500">
                <a:tc>
                  <a:txBody>
                    <a:bodyPr/>
                    <a:lstStyle/>
                    <a:p>
                      <a:r>
                        <a:rPr sz="1275">
                          <a:solidFill>
                            <a:srgbClr val="172B4D"/>
                          </a:solidFill>
                          <a:latin typeface="Bitstream Charter"/>
                          <a:ea typeface="Bitstream Charter"/>
                          <a:cs typeface="Bitstream Charter"/>
                        </a:rPr>
                        <a:t>Interne Fehlerdetails</a:t>
                      </a:r>
                    </a:p>
                  </a:txBody>
                  <a:tcPr/>
                </a:tc>
                <a:tc>
                  <a:txBody>
                    <a:bodyPr/>
                    <a:lstStyle/>
                    <a:p>
                      <a:r>
                        <a:rPr sz="1275">
                          <a:solidFill>
                            <a:srgbClr val="172B4D"/>
                          </a:solidFill>
                          <a:latin typeface="Bitstream Charter"/>
                          <a:ea typeface="Bitstream Charter"/>
                          <a:cs typeface="Bitstream Charter"/>
                        </a:rPr>
                        <a:t>3</a:t>
                      </a:r>
                    </a:p>
                  </a:txBody>
                  <a:tcPr/>
                </a:tc>
                <a:tc>
                  <a:txBody>
                    <a:bodyPr/>
                    <a:lstStyle/>
                    <a:p>
                      <a:r>
                        <a:rPr sz="1275">
                          <a:solidFill>
                            <a:srgbClr val="172B4D"/>
                          </a:solidFill>
                          <a:latin typeface="Bitstream Charter"/>
                          <a:ea typeface="Bitstream Charter"/>
                          <a:cs typeface="Bitstream Charter"/>
                        </a:rPr>
                        <a:t>3</a:t>
                      </a:r>
                    </a:p>
                  </a:txBody>
                  <a:tcPr/>
                </a:tc>
                <a:tc>
                  <a:txBody>
                    <a:bodyPr/>
                    <a:lstStyle/>
                    <a:p>
                      <a:r>
                        <a:rPr sz="1350" b="1">
                          <a:solidFill>
                            <a:srgbClr val="C53B3B"/>
                          </a:solidFill>
                          <a:latin typeface="Bitstream Charter"/>
                          <a:ea typeface="Bitstream Charter"/>
                          <a:cs typeface="Bitstream Charter"/>
                        </a:rPr>
                        <a:t>9</a:t>
                      </a:r>
                    </a:p>
                  </a:txBody>
                  <a:tcPr>
                    <a:solidFill>
                      <a:srgbClr val="FDECEC"/>
                    </a:solidFill>
                  </a:tcPr>
                </a:tc>
                <a:tc>
                  <a:txBody>
                    <a:bodyPr/>
                    <a:lstStyle/>
                    <a:p>
                      <a:r>
                        <a:rPr sz="1275">
                          <a:solidFill>
                            <a:srgbClr val="172B4D"/>
                          </a:solidFill>
                          <a:latin typeface="Bitstream Charter"/>
                          <a:ea typeface="Bitstream Charter"/>
                          <a:cs typeface="Bitstream Charter"/>
                        </a:rPr>
                        <a:t>Negativ, Security</a:t>
                      </a:r>
                    </a:p>
                  </a:txBody>
                  <a:tcPr/>
                </a:tc>
                <a:extLst>
                  <a:ext uri="{0D108BD9-81ED-4DB2-BD59-A6C34878D82A}">
                    <a16:rowId xmlns:a16="http://schemas.microsoft.com/office/drawing/2014/main" val="10005"/>
                  </a:ext>
                </a:extLst>
              </a:tr>
            </a:tbl>
          </a:graphicData>
        </a:graphic>
      </p:graphicFrame>
      <p:sp>
        <p:nvSpPr>
          <p:cNvPr id="4" name="Rechteck 3">
            <a:extLst>
              <a:ext uri="{FF2B5EF4-FFF2-40B4-BE49-F238E27FC236}">
                <a16:creationId xmlns:a16="http://schemas.microsoft.com/office/drawing/2014/main" id="{B3B86432-E855-4910-BA67-BB07F940A3DD}"/>
              </a:ext>
            </a:extLst>
          </p:cNvPr>
          <p:cNvSpPr>
            <a:spLocks noGrp="1"/>
          </p:cNvSpPr>
          <p:nvPr/>
        </p:nvSpPr>
        <p:spPr>
          <a:xfrm>
            <a:off x="704850" y="5334000"/>
            <a:ext cx="6667500" cy="285750"/>
          </a:xfrm>
          <a:prstGeom prst="rect">
            <a:avLst/>
          </a:prstGeom>
          <a:noFill/>
          <a:ln w="0">
            <a:noFill/>
          </a:ln>
        </p:spPr>
        <p:txBody>
          <a:bodyPr anchor="ctr">
            <a:noAutofit/>
          </a:bodyPr>
          <a:lstStyle/>
          <a:p>
            <a:pPr algn="l">
              <a:defRPr sz="1200" b="0">
                <a:solidFill>
                  <a:srgbClr val="52667A"/>
                </a:solidFill>
                <a:latin typeface="Bitstream Charter"/>
                <a:ea typeface="Bitstream Charter"/>
                <a:cs typeface="Bitstream Charter"/>
              </a:defRPr>
            </a:pPr>
            <a:r>
              <a:rPr sz="1200" b="0">
                <a:solidFill>
                  <a:srgbClr val="52667A"/>
                </a:solidFill>
                <a:latin typeface="Bitstream Charter"/>
                <a:ea typeface="Bitstream Charter"/>
                <a:cs typeface="Bitstream Charter"/>
              </a:rPr>
              <a:t>Skala: Wahrscheinlichkeit und Auswirkung von 1 bis 3</a:t>
            </a:r>
          </a:p>
        </p:txBody>
      </p:sp>
      <p:sp>
        <p:nvSpPr>
          <p:cNvPr id="5" name="Rechteck 4">
            <a:extLst>
              <a:ext uri="{FF2B5EF4-FFF2-40B4-BE49-F238E27FC236}">
                <a16:creationId xmlns:a16="http://schemas.microsoft.com/office/drawing/2014/main" id="{919ADE99-C22E-4622-ACBC-AD002AC5D242}"/>
              </a:ext>
            </a:extLst>
          </p:cNvPr>
          <p:cNvSpPr>
            <a:spLocks noGrp="1"/>
          </p:cNvSpPr>
          <p:nvPr/>
        </p:nvSpPr>
        <p:spPr>
          <a:xfrm>
            <a:off x="704850" y="5810250"/>
            <a:ext cx="10668000" cy="323850"/>
          </a:xfrm>
          <a:prstGeom prst="rect">
            <a:avLst/>
          </a:prstGeom>
          <a:noFill/>
          <a:ln w="0">
            <a:noFill/>
          </a:ln>
        </p:spPr>
        <p:txBody>
          <a:bodyPr anchor="ctr">
            <a:noAutofit/>
          </a:bodyPr>
          <a:lstStyle/>
          <a:p>
            <a:pPr algn="l">
              <a:defRPr sz="1350" b="1">
                <a:solidFill>
                  <a:srgbClr val="102A43"/>
                </a:solidFill>
                <a:latin typeface="Bitstream Charter"/>
                <a:ea typeface="Bitstream Charter"/>
                <a:cs typeface="Bitstream Charter"/>
              </a:defRPr>
            </a:pPr>
            <a:r>
              <a:rPr sz="1350" b="1">
                <a:solidFill>
                  <a:srgbClr val="102A43"/>
                </a:solidFill>
                <a:latin typeface="Bitstream Charter"/>
                <a:ea typeface="Bitstream Charter"/>
                <a:cs typeface="Bitstream Charter"/>
              </a:rPr>
              <a:t>In Scope: API-Funktionen und Rollenrechte     Out of Scope: Last, Cloud und Persistenz</a:t>
            </a:r>
          </a:p>
        </p:txBody>
      </p:sp>
      <p:sp>
        <p:nvSpPr>
          <p:cNvPr id="6" name="Rechteck 5">
            <a:extLst>
              <a:ext uri="{FF2B5EF4-FFF2-40B4-BE49-F238E27FC236}">
                <a16:creationId xmlns:a16="http://schemas.microsoft.com/office/drawing/2014/main" id="{5913166E-6DAE-4E9D-834D-92DC61B6581A}"/>
              </a:ext>
            </a:extLst>
          </p:cNvPr>
          <p:cNvSpPr>
            <a:spLocks noGrp="1"/>
          </p:cNvSpPr>
          <p:nvPr/>
        </p:nvSpPr>
        <p:spPr>
          <a:xfrm>
            <a:off x="685800" y="6496050"/>
            <a:ext cx="10820400" cy="209550"/>
          </a:xfrm>
          <a:prstGeom prst="rect">
            <a:avLst/>
          </a:prstGeom>
          <a:noFill/>
          <a:ln w="0">
            <a:noFill/>
          </a:ln>
        </p:spPr>
        <p:txBody>
          <a:bodyPr anchor="ctr">
            <a:noAutofit/>
          </a:bodyPr>
          <a:lstStyle/>
          <a:p>
            <a:pPr algn="r">
              <a:defRPr sz="900" b="0">
                <a:solidFill>
                  <a:srgbClr val="78909C"/>
                </a:solidFill>
                <a:latin typeface="Bitstream Charter"/>
                <a:ea typeface="Bitstream Charter"/>
                <a:cs typeface="Bitstream Charter"/>
              </a:defRPr>
            </a:pPr>
            <a:r>
              <a:rPr sz="900" b="0">
                <a:solidFill>
                  <a:srgbClr val="78909C"/>
                </a:solidFill>
                <a:latin typeface="Bitstream Charter"/>
                <a:ea typeface="Bitstream Charter"/>
                <a:cs typeface="Bitstream Charter"/>
              </a:rPr>
              <a:t>M450 LB-02   Sladjan Vasic                                      3</a:t>
            </a:r>
          </a:p>
        </p:txBody>
      </p:sp>
    </p:spTree>
    <p:extLst>
      <p:ext uri="{BB962C8B-B14F-4D97-AF65-F5344CB8AC3E}">
        <p14:creationId xmlns:p14="http://schemas.microsoft.com/office/powerpoint/2010/main" val="11979154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Rechteck 12">
            <a:extLst>
              <a:ext uri="{FF2B5EF4-FFF2-40B4-BE49-F238E27FC236}">
                <a16:creationId xmlns:a16="http://schemas.microsoft.com/office/drawing/2014/main" id="{4F4A3994-0083-4314-8E6B-D729BEC81F6E}"/>
              </a:ext>
            </a:extLst>
          </p:cNvPr>
          <p:cNvSpPr>
            <a:spLocks noGrp="1"/>
          </p:cNvSpPr>
          <p:nvPr/>
        </p:nvSpPr>
        <p:spPr>
          <a:xfrm>
            <a:off x="666750" y="400050"/>
            <a:ext cx="10858500" cy="552450"/>
          </a:xfrm>
          <a:prstGeom prst="rect">
            <a:avLst/>
          </a:prstGeom>
          <a:noFill/>
          <a:ln w="0">
            <a:noFill/>
          </a:ln>
        </p:spPr>
        <p:txBody>
          <a:bodyPr anchor="ctr">
            <a:noAutofit/>
          </a:bodyPr>
          <a:lstStyle/>
          <a:p>
            <a:pPr algn="l">
              <a:defRPr sz="2700" b="1">
                <a:solidFill>
                  <a:srgbClr val="102A43"/>
                </a:solidFill>
                <a:latin typeface="Bitstream Charter"/>
                <a:ea typeface="Bitstream Charter"/>
                <a:cs typeface="Bitstream Charter"/>
              </a:defRPr>
            </a:pPr>
            <a:r>
              <a:rPr sz="2700" b="1">
                <a:solidFill>
                  <a:srgbClr val="102A43"/>
                </a:solidFill>
                <a:latin typeface="Bitstream Charter"/>
                <a:ea typeface="Bitstream Charter"/>
                <a:cs typeface="Bitstream Charter"/>
              </a:rPr>
              <a:t>Testabdeckung</a:t>
            </a:r>
          </a:p>
        </p:txBody>
      </p:sp>
      <p:sp>
        <p:nvSpPr>
          <p:cNvPr id="2" name="Rechteck 1">
            <a:extLst>
              <a:ext uri="{FF2B5EF4-FFF2-40B4-BE49-F238E27FC236}">
                <a16:creationId xmlns:a16="http://schemas.microsoft.com/office/drawing/2014/main" id="{B41899CD-8853-4BB7-A79D-F384E36340F4}"/>
              </a:ext>
            </a:extLst>
          </p:cNvPr>
          <p:cNvSpPr>
            <a:spLocks noGrp="1"/>
          </p:cNvSpPr>
          <p:nvPr/>
        </p:nvSpPr>
        <p:spPr>
          <a:xfrm>
            <a:off x="685800" y="962025"/>
            <a:ext cx="10668000" cy="323850"/>
          </a:xfrm>
          <a:prstGeom prst="rect">
            <a:avLst/>
          </a:prstGeom>
          <a:noFill/>
          <a:ln w="0">
            <a:noFill/>
          </a:ln>
        </p:spPr>
        <p:txBody>
          <a:bodyPr anchor="ctr">
            <a:noAutofit/>
          </a:bodyPr>
          <a:lstStyle/>
          <a:p>
            <a:pPr algn="l">
              <a:defRPr sz="1350" b="0">
                <a:solidFill>
                  <a:srgbClr val="52667A"/>
                </a:solidFill>
                <a:latin typeface="Bitstream Charter"/>
                <a:ea typeface="Bitstream Charter"/>
                <a:cs typeface="Bitstream Charter"/>
              </a:defRPr>
            </a:pPr>
            <a:r>
              <a:rPr sz="1350" b="0">
                <a:solidFill>
                  <a:srgbClr val="52667A"/>
                </a:solidFill>
                <a:latin typeface="Bitstream Charter"/>
                <a:ea typeface="Bitstream Charter"/>
                <a:cs typeface="Bitstream Charter"/>
              </a:rPr>
              <a:t>Manuelle und automatisierte Prüfung ergänzen sich</a:t>
            </a:r>
          </a:p>
        </p:txBody>
      </p:sp>
      <p:sp>
        <p:nvSpPr>
          <p:cNvPr id="3" name="Rechteck 2">
            <a:extLst>
              <a:ext uri="{FF2B5EF4-FFF2-40B4-BE49-F238E27FC236}">
                <a16:creationId xmlns:a16="http://schemas.microsoft.com/office/drawing/2014/main" id="{80F4DB3F-8EA7-476E-B491-42A28D05CFC5}"/>
              </a:ext>
            </a:extLst>
          </p:cNvPr>
          <p:cNvSpPr>
            <a:spLocks noGrp="1"/>
          </p:cNvSpPr>
          <p:nvPr/>
        </p:nvSpPr>
        <p:spPr>
          <a:xfrm>
            <a:off x="857250" y="1809750"/>
            <a:ext cx="2095500" cy="809625"/>
          </a:xfrm>
          <a:prstGeom prst="rect">
            <a:avLst/>
          </a:prstGeom>
          <a:noFill/>
          <a:ln w="0">
            <a:noFill/>
          </a:ln>
        </p:spPr>
        <p:txBody>
          <a:bodyPr anchor="ctr">
            <a:noAutofit/>
          </a:bodyPr>
          <a:lstStyle/>
          <a:p>
            <a:pPr algn="ctr">
              <a:defRPr sz="4650" b="1">
                <a:solidFill>
                  <a:srgbClr val="2364AA"/>
                </a:solidFill>
                <a:latin typeface="Bitstream Charter"/>
                <a:ea typeface="Bitstream Charter"/>
                <a:cs typeface="Bitstream Charter"/>
              </a:defRPr>
            </a:pPr>
            <a:r>
              <a:rPr sz="4650" b="1">
                <a:solidFill>
                  <a:srgbClr val="2364AA"/>
                </a:solidFill>
                <a:latin typeface="Bitstream Charter"/>
                <a:ea typeface="Bitstream Charter"/>
                <a:cs typeface="Bitstream Charter"/>
              </a:rPr>
              <a:t>16</a:t>
            </a:r>
          </a:p>
        </p:txBody>
      </p:sp>
      <p:sp>
        <p:nvSpPr>
          <p:cNvPr id="4" name="Rechteck 3">
            <a:extLst>
              <a:ext uri="{FF2B5EF4-FFF2-40B4-BE49-F238E27FC236}">
                <a16:creationId xmlns:a16="http://schemas.microsoft.com/office/drawing/2014/main" id="{1631B9D7-E0EE-4FC3-B239-847BDF176AE1}"/>
              </a:ext>
            </a:extLst>
          </p:cNvPr>
          <p:cNvSpPr>
            <a:spLocks noGrp="1"/>
          </p:cNvSpPr>
          <p:nvPr/>
        </p:nvSpPr>
        <p:spPr>
          <a:xfrm>
            <a:off x="857250" y="2619375"/>
            <a:ext cx="2095500" cy="381000"/>
          </a:xfrm>
          <a:prstGeom prst="rect">
            <a:avLst/>
          </a:prstGeom>
          <a:noFill/>
          <a:ln w="0">
            <a:noFill/>
          </a:ln>
        </p:spPr>
        <p:txBody>
          <a:bodyPr anchor="ctr">
            <a:noAutofit/>
          </a:bodyPr>
          <a:lstStyle/>
          <a:p>
            <a:pPr algn="ctr">
              <a:defRPr sz="1650" b="1">
                <a:solidFill>
                  <a:srgbClr val="102A43"/>
                </a:solidFill>
                <a:latin typeface="Bitstream Charter"/>
                <a:ea typeface="Bitstream Charter"/>
                <a:cs typeface="Bitstream Charter"/>
              </a:defRPr>
            </a:pPr>
            <a:r>
              <a:rPr sz="1650" b="1">
                <a:solidFill>
                  <a:srgbClr val="102A43"/>
                </a:solidFill>
                <a:latin typeface="Bitstream Charter"/>
                <a:ea typeface="Bitstream Charter"/>
                <a:cs typeface="Bitstream Charter"/>
              </a:rPr>
              <a:t>Testfälle</a:t>
            </a:r>
          </a:p>
        </p:txBody>
      </p:sp>
      <p:sp>
        <p:nvSpPr>
          <p:cNvPr id="5" name="Rechteck 4">
            <a:extLst>
              <a:ext uri="{FF2B5EF4-FFF2-40B4-BE49-F238E27FC236}">
                <a16:creationId xmlns:a16="http://schemas.microsoft.com/office/drawing/2014/main" id="{B534545E-F013-4E0C-BA22-570B0E0A6D46}"/>
              </a:ext>
            </a:extLst>
          </p:cNvPr>
          <p:cNvSpPr>
            <a:spLocks noGrp="1"/>
          </p:cNvSpPr>
          <p:nvPr/>
        </p:nvSpPr>
        <p:spPr>
          <a:xfrm>
            <a:off x="3238500" y="1809750"/>
            <a:ext cx="2095500" cy="809625"/>
          </a:xfrm>
          <a:prstGeom prst="rect">
            <a:avLst/>
          </a:prstGeom>
          <a:noFill/>
          <a:ln w="0">
            <a:noFill/>
          </a:ln>
        </p:spPr>
        <p:txBody>
          <a:bodyPr anchor="ctr">
            <a:noAutofit/>
          </a:bodyPr>
          <a:lstStyle/>
          <a:p>
            <a:pPr algn="ctr">
              <a:defRPr sz="4650" b="1">
                <a:solidFill>
                  <a:srgbClr val="2CB1BC"/>
                </a:solidFill>
                <a:latin typeface="Bitstream Charter"/>
                <a:ea typeface="Bitstream Charter"/>
                <a:cs typeface="Bitstream Charter"/>
              </a:defRPr>
            </a:pPr>
            <a:r>
              <a:rPr sz="4650" b="1">
                <a:solidFill>
                  <a:srgbClr val="2CB1BC"/>
                </a:solidFill>
                <a:latin typeface="Bitstream Charter"/>
                <a:ea typeface="Bitstream Charter"/>
                <a:cs typeface="Bitstream Charter"/>
              </a:rPr>
              <a:t>7</a:t>
            </a:r>
          </a:p>
        </p:txBody>
      </p:sp>
      <p:sp>
        <p:nvSpPr>
          <p:cNvPr id="6" name="Rechteck 5">
            <a:extLst>
              <a:ext uri="{FF2B5EF4-FFF2-40B4-BE49-F238E27FC236}">
                <a16:creationId xmlns:a16="http://schemas.microsoft.com/office/drawing/2014/main" id="{F10D61C7-1A09-46A6-8021-1DD114E1E9AA}"/>
              </a:ext>
            </a:extLst>
          </p:cNvPr>
          <p:cNvSpPr>
            <a:spLocks noGrp="1"/>
          </p:cNvSpPr>
          <p:nvPr/>
        </p:nvSpPr>
        <p:spPr>
          <a:xfrm>
            <a:off x="3238500" y="2619375"/>
            <a:ext cx="2095500" cy="571500"/>
          </a:xfrm>
          <a:prstGeom prst="rect">
            <a:avLst/>
          </a:prstGeom>
          <a:noFill/>
          <a:ln w="0">
            <a:noFill/>
          </a:ln>
        </p:spPr>
        <p:txBody>
          <a:bodyPr anchor="ctr">
            <a:noAutofit/>
          </a:bodyPr>
          <a:lstStyle/>
          <a:p>
            <a:pPr algn="ctr">
              <a:defRPr sz="1650" b="1">
                <a:solidFill>
                  <a:srgbClr val="102A43"/>
                </a:solidFill>
                <a:latin typeface="Bitstream Charter"/>
                <a:ea typeface="Bitstream Charter"/>
                <a:cs typeface="Bitstream Charter"/>
              </a:defRPr>
            </a:pPr>
            <a:r>
              <a:rPr sz="1650" b="1">
                <a:solidFill>
                  <a:srgbClr val="102A43"/>
                </a:solidFill>
                <a:latin typeface="Bitstream Charter"/>
                <a:ea typeface="Bitstream Charter"/>
                <a:cs typeface="Bitstream Charter"/>
              </a:rPr>
              <a:t>neue automatisierte Tests</a:t>
            </a:r>
          </a:p>
        </p:txBody>
      </p:sp>
      <p:sp>
        <p:nvSpPr>
          <p:cNvPr id="7" name="Rechteck 6">
            <a:extLst>
              <a:ext uri="{FF2B5EF4-FFF2-40B4-BE49-F238E27FC236}">
                <a16:creationId xmlns:a16="http://schemas.microsoft.com/office/drawing/2014/main" id="{04ABE6C4-984A-4752-AF22-352901475200}"/>
              </a:ext>
            </a:extLst>
          </p:cNvPr>
          <p:cNvSpPr>
            <a:spLocks noGrp="1"/>
          </p:cNvSpPr>
          <p:nvPr/>
        </p:nvSpPr>
        <p:spPr>
          <a:xfrm>
            <a:off x="5619750" y="1809750"/>
            <a:ext cx="2095500" cy="809625"/>
          </a:xfrm>
          <a:prstGeom prst="rect">
            <a:avLst/>
          </a:prstGeom>
          <a:noFill/>
          <a:ln w="0">
            <a:noFill/>
          </a:ln>
        </p:spPr>
        <p:txBody>
          <a:bodyPr anchor="ctr">
            <a:noAutofit/>
          </a:bodyPr>
          <a:lstStyle/>
          <a:p>
            <a:pPr algn="ctr">
              <a:defRPr sz="4650" b="1">
                <a:solidFill>
                  <a:srgbClr val="D97706"/>
                </a:solidFill>
                <a:latin typeface="Bitstream Charter"/>
                <a:ea typeface="Bitstream Charter"/>
                <a:cs typeface="Bitstream Charter"/>
              </a:defRPr>
            </a:pPr>
            <a:r>
              <a:rPr sz="4650" b="1" dirty="0">
                <a:solidFill>
                  <a:srgbClr val="D97706"/>
                </a:solidFill>
                <a:latin typeface="Bitstream Charter"/>
                <a:ea typeface="Bitstream Charter"/>
                <a:cs typeface="Bitstream Charter"/>
              </a:rPr>
              <a:t>1</a:t>
            </a:r>
            <a:r>
              <a:rPr lang="de-CH" sz="4650" b="1" dirty="0">
                <a:solidFill>
                  <a:srgbClr val="D97706"/>
                </a:solidFill>
                <a:latin typeface="Bitstream Charter"/>
                <a:ea typeface="Bitstream Charter"/>
                <a:cs typeface="Bitstream Charter"/>
              </a:rPr>
              <a:t>3</a:t>
            </a:r>
            <a:endParaRPr sz="4650" b="1" dirty="0">
              <a:solidFill>
                <a:srgbClr val="D97706"/>
              </a:solidFill>
              <a:latin typeface="Bitstream Charter"/>
              <a:ea typeface="Bitstream Charter"/>
              <a:cs typeface="Bitstream Charter"/>
            </a:endParaRPr>
          </a:p>
        </p:txBody>
      </p:sp>
      <p:sp>
        <p:nvSpPr>
          <p:cNvPr id="8" name="Rechteck 7">
            <a:extLst>
              <a:ext uri="{FF2B5EF4-FFF2-40B4-BE49-F238E27FC236}">
                <a16:creationId xmlns:a16="http://schemas.microsoft.com/office/drawing/2014/main" id="{F5759731-74FF-4742-826C-1FD1147F2F8C}"/>
              </a:ext>
            </a:extLst>
          </p:cNvPr>
          <p:cNvSpPr>
            <a:spLocks noGrp="1"/>
          </p:cNvSpPr>
          <p:nvPr/>
        </p:nvSpPr>
        <p:spPr>
          <a:xfrm>
            <a:off x="5619750" y="2619375"/>
            <a:ext cx="2095500" cy="381000"/>
          </a:xfrm>
          <a:prstGeom prst="rect">
            <a:avLst/>
          </a:prstGeom>
          <a:noFill/>
          <a:ln w="0">
            <a:noFill/>
          </a:ln>
        </p:spPr>
        <p:txBody>
          <a:bodyPr anchor="ctr">
            <a:noAutofit/>
          </a:bodyPr>
          <a:lstStyle/>
          <a:p>
            <a:pPr algn="ctr">
              <a:defRPr sz="1650" b="1">
                <a:solidFill>
                  <a:srgbClr val="102A43"/>
                </a:solidFill>
                <a:latin typeface="Bitstream Charter"/>
                <a:ea typeface="Bitstream Charter"/>
                <a:cs typeface="Bitstream Charter"/>
              </a:defRPr>
            </a:pPr>
            <a:r>
              <a:rPr sz="1650" b="1">
                <a:solidFill>
                  <a:srgbClr val="102A43"/>
                </a:solidFill>
                <a:latin typeface="Bitstream Charter"/>
                <a:ea typeface="Bitstream Charter"/>
                <a:cs typeface="Bitstream Charter"/>
              </a:rPr>
              <a:t>Postman-Szenarien</a:t>
            </a:r>
          </a:p>
        </p:txBody>
      </p:sp>
      <p:graphicFrame>
        <p:nvGraphicFramePr>
          <p:cNvPr id="21" name="Chart"/>
          <p:cNvGraphicFramePr/>
          <p:nvPr/>
        </p:nvGraphicFramePr>
        <p:xfrm>
          <a:off x="8096250" y="1571625"/>
          <a:ext cx="3333750" cy="3238500"/>
        </p:xfrm>
        <a:graphic>
          <a:graphicData uri="http://schemas.openxmlformats.org/drawingml/2006/chart">
            <c:chart xmlns:c="http://schemas.openxmlformats.org/drawingml/2006/chart" xmlns:r="http://schemas.openxmlformats.org/officeDocument/2006/relationships" r:id="rId3"/>
          </a:graphicData>
        </a:graphic>
      </p:graphicFrame>
      <p:sp>
        <p:nvSpPr>
          <p:cNvPr id="10" name="Rechteck 9">
            <a:extLst>
              <a:ext uri="{FF2B5EF4-FFF2-40B4-BE49-F238E27FC236}">
                <a16:creationId xmlns:a16="http://schemas.microsoft.com/office/drawing/2014/main" id="{BC383323-7A91-4195-B807-9798DD61F249}"/>
              </a:ext>
            </a:extLst>
          </p:cNvPr>
          <p:cNvSpPr>
            <a:spLocks noGrp="1"/>
          </p:cNvSpPr>
          <p:nvPr/>
        </p:nvSpPr>
        <p:spPr>
          <a:xfrm>
            <a:off x="8334375" y="4810125"/>
            <a:ext cx="2857500" cy="523875"/>
          </a:xfrm>
          <a:prstGeom prst="rect">
            <a:avLst/>
          </a:prstGeom>
          <a:noFill/>
          <a:ln w="0">
            <a:noFill/>
          </a:ln>
        </p:spPr>
        <p:txBody>
          <a:bodyPr anchor="ctr">
            <a:noAutofit/>
          </a:bodyPr>
          <a:lstStyle/>
          <a:p>
            <a:pPr algn="ctr">
              <a:defRPr sz="1350" b="1">
                <a:solidFill>
                  <a:srgbClr val="102A43"/>
                </a:solidFill>
                <a:latin typeface="Bitstream Charter"/>
                <a:ea typeface="Bitstream Charter"/>
                <a:cs typeface="Bitstream Charter"/>
              </a:defRPr>
            </a:pPr>
            <a:r>
              <a:rPr sz="1350" b="1">
                <a:solidFill>
                  <a:srgbClr val="102A43"/>
                </a:solidFill>
                <a:latin typeface="Bitstream Charter"/>
                <a:ea typeface="Bitstream Charter"/>
                <a:cs typeface="Bitstream Charter"/>
              </a:rPr>
              <a:t>Automatisierte Tests nach dem Fix</a:t>
            </a:r>
          </a:p>
        </p:txBody>
      </p:sp>
      <p:sp>
        <p:nvSpPr>
          <p:cNvPr id="11" name="Rechteck 10">
            <a:extLst>
              <a:ext uri="{FF2B5EF4-FFF2-40B4-BE49-F238E27FC236}">
                <a16:creationId xmlns:a16="http://schemas.microsoft.com/office/drawing/2014/main" id="{666CD2F4-3403-4BCD-A743-D116421ABD60}"/>
              </a:ext>
            </a:extLst>
          </p:cNvPr>
          <p:cNvSpPr>
            <a:spLocks noGrp="1"/>
          </p:cNvSpPr>
          <p:nvPr/>
        </p:nvSpPr>
        <p:spPr>
          <a:xfrm>
            <a:off x="952500" y="4762500"/>
            <a:ext cx="6477000" cy="857250"/>
          </a:xfrm>
          <a:prstGeom prst="rect">
            <a:avLst/>
          </a:prstGeom>
          <a:noFill/>
          <a:ln w="0">
            <a:noFill/>
          </a:ln>
        </p:spPr>
        <p:txBody>
          <a:bodyPr anchor="ctr">
            <a:noAutofit/>
          </a:bodyPr>
          <a:lstStyle/>
          <a:p>
            <a:pPr algn="l">
              <a:defRPr sz="1725" b="0">
                <a:solidFill>
                  <a:srgbClr val="172B4D"/>
                </a:solidFill>
                <a:latin typeface="Bitstream Charter"/>
                <a:ea typeface="Bitstream Charter"/>
                <a:cs typeface="Bitstream Charter"/>
              </a:defRPr>
            </a:pPr>
            <a:r>
              <a:rPr sz="1725" b="0">
                <a:solidFill>
                  <a:srgbClr val="172B4D"/>
                </a:solidFill>
                <a:latin typeface="Bitstream Charter"/>
                <a:ea typeface="Bitstream Charter"/>
                <a:cs typeface="Bitstream Charter"/>
              </a:rPr>
              <a:t>Abgedeckt: Positiv- und Negativfälle, Grenzwerte, Authentifizierung, Autorisierung und Regression</a:t>
            </a:r>
          </a:p>
        </p:txBody>
      </p:sp>
      <p:sp>
        <p:nvSpPr>
          <p:cNvPr id="12" name="Rechteck 11">
            <a:extLst>
              <a:ext uri="{FF2B5EF4-FFF2-40B4-BE49-F238E27FC236}">
                <a16:creationId xmlns:a16="http://schemas.microsoft.com/office/drawing/2014/main" id="{E51952CE-6DED-4599-8544-46A86720BA38}"/>
              </a:ext>
            </a:extLst>
          </p:cNvPr>
          <p:cNvSpPr>
            <a:spLocks noGrp="1"/>
          </p:cNvSpPr>
          <p:nvPr/>
        </p:nvSpPr>
        <p:spPr>
          <a:xfrm>
            <a:off x="685800" y="6496050"/>
            <a:ext cx="10820400" cy="209550"/>
          </a:xfrm>
          <a:prstGeom prst="rect">
            <a:avLst/>
          </a:prstGeom>
          <a:noFill/>
          <a:ln w="0">
            <a:noFill/>
          </a:ln>
        </p:spPr>
        <p:txBody>
          <a:bodyPr anchor="ctr">
            <a:noAutofit/>
          </a:bodyPr>
          <a:lstStyle/>
          <a:p>
            <a:pPr algn="r">
              <a:defRPr sz="900" b="0">
                <a:solidFill>
                  <a:srgbClr val="78909C"/>
                </a:solidFill>
                <a:latin typeface="Bitstream Charter"/>
                <a:ea typeface="Bitstream Charter"/>
                <a:cs typeface="Bitstream Charter"/>
              </a:defRPr>
            </a:pPr>
            <a:r>
              <a:rPr sz="900" b="0">
                <a:solidFill>
                  <a:srgbClr val="78909C"/>
                </a:solidFill>
                <a:latin typeface="Bitstream Charter"/>
                <a:ea typeface="Bitstream Charter"/>
                <a:cs typeface="Bitstream Charter"/>
              </a:rPr>
              <a:t>M450 LB-02   Sladjan Vasic                                      4</a:t>
            </a:r>
          </a:p>
        </p:txBody>
      </p:sp>
    </p:spTree>
    <p:extLst>
      <p:ext uri="{BB962C8B-B14F-4D97-AF65-F5344CB8AC3E}">
        <p14:creationId xmlns:p14="http://schemas.microsoft.com/office/powerpoint/2010/main" val="15711537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782AD8BD-8E44-4F57-9A72-74B9F2B7F724}"/>
              </a:ext>
            </a:extLst>
          </p:cNvPr>
          <p:cNvSpPr>
            <a:spLocks noGrp="1"/>
          </p:cNvSpPr>
          <p:nvPr/>
        </p:nvSpPr>
        <p:spPr>
          <a:xfrm>
            <a:off x="666750" y="400050"/>
            <a:ext cx="10858500" cy="552450"/>
          </a:xfrm>
          <a:prstGeom prst="rect">
            <a:avLst/>
          </a:prstGeom>
          <a:noFill/>
          <a:ln w="0">
            <a:noFill/>
          </a:ln>
        </p:spPr>
        <p:txBody>
          <a:bodyPr anchor="ctr">
            <a:noAutofit/>
          </a:bodyPr>
          <a:lstStyle/>
          <a:p>
            <a:pPr algn="l">
              <a:defRPr sz="2700" b="1">
                <a:solidFill>
                  <a:srgbClr val="102A43"/>
                </a:solidFill>
                <a:latin typeface="Bitstream Charter"/>
                <a:ea typeface="Bitstream Charter"/>
                <a:cs typeface="Bitstream Charter"/>
              </a:defRPr>
            </a:pPr>
            <a:r>
              <a:rPr sz="2700" b="1">
                <a:solidFill>
                  <a:srgbClr val="102A43"/>
                </a:solidFill>
                <a:latin typeface="Bitstream Charter"/>
                <a:ea typeface="Bitstream Charter"/>
                <a:cs typeface="Bitstream Charter"/>
              </a:rPr>
              <a:t>Release-blockierende Defects</a:t>
            </a:r>
          </a:p>
        </p:txBody>
      </p:sp>
      <p:sp>
        <p:nvSpPr>
          <p:cNvPr id="2" name="Rechteck 1">
            <a:extLst>
              <a:ext uri="{FF2B5EF4-FFF2-40B4-BE49-F238E27FC236}">
                <a16:creationId xmlns:a16="http://schemas.microsoft.com/office/drawing/2014/main" id="{4D1EB21F-D49F-4F00-91F4-E5507C6AB890}"/>
              </a:ext>
            </a:extLst>
          </p:cNvPr>
          <p:cNvSpPr>
            <a:spLocks noGrp="1"/>
          </p:cNvSpPr>
          <p:nvPr/>
        </p:nvSpPr>
        <p:spPr>
          <a:xfrm>
            <a:off x="685800" y="962025"/>
            <a:ext cx="10668000" cy="323850"/>
          </a:xfrm>
          <a:prstGeom prst="rect">
            <a:avLst/>
          </a:prstGeom>
          <a:noFill/>
          <a:ln w="0">
            <a:noFill/>
          </a:ln>
        </p:spPr>
        <p:txBody>
          <a:bodyPr anchor="ctr">
            <a:noAutofit/>
          </a:bodyPr>
          <a:lstStyle/>
          <a:p>
            <a:pPr algn="l">
              <a:defRPr sz="1350" b="0">
                <a:solidFill>
                  <a:srgbClr val="52667A"/>
                </a:solidFill>
                <a:latin typeface="Bitstream Charter"/>
                <a:ea typeface="Bitstream Charter"/>
                <a:cs typeface="Bitstream Charter"/>
              </a:defRPr>
            </a:pPr>
            <a:r>
              <a:rPr lang="de-CH" sz="1350" b="0" dirty="0">
                <a:solidFill>
                  <a:srgbClr val="52667A"/>
                </a:solidFill>
                <a:latin typeface="Bitstream Charter"/>
                <a:ea typeface="Bitstream Charter"/>
                <a:cs typeface="Bitstream Charter"/>
              </a:rPr>
              <a:t>Zwei </a:t>
            </a:r>
            <a:r>
              <a:rPr lang="de-CH" sz="1350" dirty="0">
                <a:solidFill>
                  <a:srgbClr val="52667A"/>
                </a:solidFill>
                <a:latin typeface="Bitstream Charter"/>
                <a:ea typeface="Bitstream Charter"/>
                <a:cs typeface="Bitstream Charter"/>
              </a:rPr>
              <a:t>e</a:t>
            </a:r>
            <a:r>
              <a:rPr sz="1350" b="0" dirty="0" err="1">
                <a:solidFill>
                  <a:srgbClr val="52667A"/>
                </a:solidFill>
                <a:latin typeface="Bitstream Charter"/>
                <a:ea typeface="Bitstream Charter"/>
                <a:cs typeface="Bitstream Charter"/>
              </a:rPr>
              <a:t>chte</a:t>
            </a:r>
            <a:r>
              <a:rPr sz="1350" b="0" dirty="0">
                <a:solidFill>
                  <a:srgbClr val="52667A"/>
                </a:solidFill>
                <a:latin typeface="Bitstream Charter"/>
                <a:ea typeface="Bitstream Charter"/>
                <a:cs typeface="Bitstream Charter"/>
              </a:rPr>
              <a:t> API-</a:t>
            </a:r>
            <a:r>
              <a:rPr sz="1350" b="0" dirty="0" err="1">
                <a:solidFill>
                  <a:srgbClr val="52667A"/>
                </a:solidFill>
                <a:latin typeface="Bitstream Charter"/>
                <a:ea typeface="Bitstream Charter"/>
                <a:cs typeface="Bitstream Charter"/>
              </a:rPr>
              <a:t>Evidenz</a:t>
            </a:r>
            <a:r>
              <a:rPr lang="de-CH" sz="1350" b="0" dirty="0">
                <a:solidFill>
                  <a:srgbClr val="52667A"/>
                </a:solidFill>
                <a:latin typeface="Bitstream Charter"/>
                <a:ea typeface="Bitstream Charter"/>
                <a:cs typeface="Bitstream Charter"/>
              </a:rPr>
              <a:t>en</a:t>
            </a:r>
            <a:r>
              <a:rPr sz="1350" b="0" dirty="0">
                <a:solidFill>
                  <a:srgbClr val="52667A"/>
                </a:solidFill>
                <a:latin typeface="Bitstream Charter"/>
                <a:ea typeface="Bitstream Charter"/>
                <a:cs typeface="Bitstream Charter"/>
              </a:rPr>
              <a:t> </a:t>
            </a:r>
            <a:r>
              <a:rPr sz="1350" b="0" dirty="0" err="1">
                <a:solidFill>
                  <a:srgbClr val="52667A"/>
                </a:solidFill>
                <a:latin typeface="Bitstream Charter"/>
                <a:ea typeface="Bitstream Charter"/>
                <a:cs typeface="Bitstream Charter"/>
              </a:rPr>
              <a:t>aus</a:t>
            </a:r>
            <a:r>
              <a:rPr sz="1350" b="0" dirty="0">
                <a:solidFill>
                  <a:srgbClr val="52667A"/>
                </a:solidFill>
                <a:latin typeface="Bitstream Charter"/>
                <a:ea typeface="Bitstream Charter"/>
                <a:cs typeface="Bitstream Charter"/>
              </a:rPr>
              <a:t> Postman</a:t>
            </a:r>
            <a:r>
              <a:rPr lang="de-CH" sz="1350" b="0" dirty="0">
                <a:solidFill>
                  <a:srgbClr val="52667A"/>
                </a:solidFill>
                <a:latin typeface="Bitstream Charter"/>
                <a:ea typeface="Bitstream Charter"/>
                <a:cs typeface="Bitstream Charter"/>
              </a:rPr>
              <a:t> (2 von 4)</a:t>
            </a:r>
            <a:endParaRPr sz="1350" b="0" dirty="0">
              <a:solidFill>
                <a:srgbClr val="52667A"/>
              </a:solidFill>
              <a:latin typeface="Bitstream Charter"/>
              <a:ea typeface="Bitstream Charter"/>
              <a:cs typeface="Bitstream Charter"/>
            </a:endParaRPr>
          </a:p>
        </p:txBody>
      </p:sp>
      <p:pic>
        <p:nvPicPr>
          <p:cNvPr id="12" name="Grafik 11"/>
          <p:cNvPicPr>
            <a:picLocks noChangeAspect="1"/>
          </p:cNvPicPr>
          <p:nvPr/>
        </p:nvPicPr>
        <p:blipFill>
          <a:blip r:embed="rId3"/>
          <a:stretch/>
        </p:blipFill>
        <p:spPr>
          <a:xfrm>
            <a:off x="523875" y="1880635"/>
            <a:ext cx="5429250" cy="2715731"/>
          </a:xfrm>
          <a:prstGeom prst="rect">
            <a:avLst/>
          </a:prstGeom>
        </p:spPr>
      </p:pic>
      <p:pic>
        <p:nvPicPr>
          <p:cNvPr id="13" name="Grafik 12"/>
          <p:cNvPicPr>
            <a:picLocks noChangeAspect="1"/>
          </p:cNvPicPr>
          <p:nvPr/>
        </p:nvPicPr>
        <p:blipFill>
          <a:blip r:embed="rId4"/>
          <a:stretch/>
        </p:blipFill>
        <p:spPr>
          <a:xfrm>
            <a:off x="6238875" y="2175744"/>
            <a:ext cx="5429250" cy="2125512"/>
          </a:xfrm>
          <a:prstGeom prst="rect">
            <a:avLst/>
          </a:prstGeom>
        </p:spPr>
      </p:pic>
      <p:sp>
        <p:nvSpPr>
          <p:cNvPr id="5" name="Rechteck 4">
            <a:extLst>
              <a:ext uri="{FF2B5EF4-FFF2-40B4-BE49-F238E27FC236}">
                <a16:creationId xmlns:a16="http://schemas.microsoft.com/office/drawing/2014/main" id="{35BF831F-E350-4EC1-8C16-683218BDF60E}"/>
              </a:ext>
            </a:extLst>
          </p:cNvPr>
          <p:cNvSpPr>
            <a:spLocks noGrp="1"/>
          </p:cNvSpPr>
          <p:nvPr/>
        </p:nvSpPr>
        <p:spPr>
          <a:xfrm>
            <a:off x="714375" y="5095875"/>
            <a:ext cx="4953000" cy="361950"/>
          </a:xfrm>
          <a:prstGeom prst="rect">
            <a:avLst/>
          </a:prstGeom>
          <a:noFill/>
          <a:ln w="0">
            <a:noFill/>
          </a:ln>
        </p:spPr>
        <p:txBody>
          <a:bodyPr anchor="ctr">
            <a:noAutofit/>
          </a:bodyPr>
          <a:lstStyle/>
          <a:p>
            <a:pPr algn="l">
              <a:defRPr sz="1650" b="1">
                <a:solidFill>
                  <a:srgbClr val="C53B3B"/>
                </a:solidFill>
                <a:latin typeface="Bitstream Charter"/>
                <a:ea typeface="Bitstream Charter"/>
                <a:cs typeface="Bitstream Charter"/>
              </a:defRPr>
            </a:pPr>
            <a:r>
              <a:rPr sz="1650" b="1">
                <a:solidFill>
                  <a:srgbClr val="C53B3B"/>
                </a:solidFill>
                <a:latin typeface="Bitstream Charter"/>
                <a:ea typeface="Bitstream Charter"/>
                <a:cs typeface="Bitstream Charter"/>
              </a:rPr>
              <a:t>DEF-01  Fremde Tasks sichtbar</a:t>
            </a:r>
          </a:p>
        </p:txBody>
      </p:sp>
      <p:sp>
        <p:nvSpPr>
          <p:cNvPr id="6" name="Rechteck 5">
            <a:extLst>
              <a:ext uri="{FF2B5EF4-FFF2-40B4-BE49-F238E27FC236}">
                <a16:creationId xmlns:a16="http://schemas.microsoft.com/office/drawing/2014/main" id="{7C915B20-679B-45AA-BCAC-079539626C66}"/>
              </a:ext>
            </a:extLst>
          </p:cNvPr>
          <p:cNvSpPr>
            <a:spLocks noGrp="1"/>
          </p:cNvSpPr>
          <p:nvPr/>
        </p:nvSpPr>
        <p:spPr>
          <a:xfrm>
            <a:off x="714375" y="5495925"/>
            <a:ext cx="4953000" cy="495300"/>
          </a:xfrm>
          <a:prstGeom prst="rect">
            <a:avLst/>
          </a:prstGeom>
          <a:noFill/>
          <a:ln w="0">
            <a:noFill/>
          </a:ln>
        </p:spPr>
        <p:txBody>
          <a:bodyPr anchor="ctr">
            <a:noAutofit/>
          </a:bodyPr>
          <a:lstStyle/>
          <a:p>
            <a:pPr algn="l">
              <a:defRPr sz="1425" b="0">
                <a:solidFill>
                  <a:srgbClr val="172B4D"/>
                </a:solidFill>
                <a:latin typeface="Bitstream Charter"/>
                <a:ea typeface="Bitstream Charter"/>
                <a:cs typeface="Bitstream Charter"/>
              </a:defRPr>
            </a:pPr>
            <a:r>
              <a:rPr sz="1425" b="0">
                <a:solidFill>
                  <a:srgbClr val="172B4D"/>
                </a:solidFill>
                <a:latin typeface="Bitstream Charter"/>
                <a:ea typeface="Bitstream Charter"/>
                <a:cs typeface="Bitstream Charter"/>
              </a:rPr>
              <a:t>Alice sieht t1 und den Task t2 von Bob</a:t>
            </a:r>
          </a:p>
        </p:txBody>
      </p:sp>
      <p:sp>
        <p:nvSpPr>
          <p:cNvPr id="7" name="Rechteck 6">
            <a:extLst>
              <a:ext uri="{FF2B5EF4-FFF2-40B4-BE49-F238E27FC236}">
                <a16:creationId xmlns:a16="http://schemas.microsoft.com/office/drawing/2014/main" id="{D6B73A71-8D3F-44B7-80F2-76E13C07E1C4}"/>
              </a:ext>
            </a:extLst>
          </p:cNvPr>
          <p:cNvSpPr>
            <a:spLocks noGrp="1"/>
          </p:cNvSpPr>
          <p:nvPr/>
        </p:nvSpPr>
        <p:spPr>
          <a:xfrm>
            <a:off x="6429375" y="5095875"/>
            <a:ext cx="4953000" cy="361950"/>
          </a:xfrm>
          <a:prstGeom prst="rect">
            <a:avLst/>
          </a:prstGeom>
          <a:noFill/>
          <a:ln w="0">
            <a:noFill/>
          </a:ln>
        </p:spPr>
        <p:txBody>
          <a:bodyPr anchor="ctr">
            <a:noAutofit/>
          </a:bodyPr>
          <a:lstStyle/>
          <a:p>
            <a:pPr algn="l">
              <a:defRPr sz="1650" b="1">
                <a:solidFill>
                  <a:srgbClr val="C53B3B"/>
                </a:solidFill>
                <a:latin typeface="Bitstream Charter"/>
                <a:ea typeface="Bitstream Charter"/>
                <a:cs typeface="Bitstream Charter"/>
              </a:defRPr>
            </a:pPr>
            <a:r>
              <a:rPr sz="1650" b="1">
                <a:solidFill>
                  <a:srgbClr val="C53B3B"/>
                </a:solidFill>
                <a:latin typeface="Bitstream Charter"/>
                <a:ea typeface="Bitstream Charter"/>
                <a:cs typeface="Bitstream Charter"/>
              </a:rPr>
              <a:t>DEF-05  Interne Details offengelegt</a:t>
            </a:r>
          </a:p>
        </p:txBody>
      </p:sp>
      <p:sp>
        <p:nvSpPr>
          <p:cNvPr id="8" name="Rechteck 7">
            <a:extLst>
              <a:ext uri="{FF2B5EF4-FFF2-40B4-BE49-F238E27FC236}">
                <a16:creationId xmlns:a16="http://schemas.microsoft.com/office/drawing/2014/main" id="{868952C6-48F2-4833-B5B9-721FB5C0EAC8}"/>
              </a:ext>
            </a:extLst>
          </p:cNvPr>
          <p:cNvSpPr>
            <a:spLocks noGrp="1"/>
          </p:cNvSpPr>
          <p:nvPr/>
        </p:nvSpPr>
        <p:spPr>
          <a:xfrm>
            <a:off x="6429375" y="5495925"/>
            <a:ext cx="4953000" cy="495300"/>
          </a:xfrm>
          <a:prstGeom prst="rect">
            <a:avLst/>
          </a:prstGeom>
          <a:noFill/>
          <a:ln w="0">
            <a:noFill/>
          </a:ln>
        </p:spPr>
        <p:txBody>
          <a:bodyPr anchor="ctr">
            <a:noAutofit/>
          </a:bodyPr>
          <a:lstStyle/>
          <a:p>
            <a:pPr algn="l">
              <a:defRPr sz="1425" b="0">
                <a:solidFill>
                  <a:srgbClr val="172B4D"/>
                </a:solidFill>
                <a:latin typeface="Bitstream Charter"/>
                <a:ea typeface="Bitstream Charter"/>
                <a:cs typeface="Bitstream Charter"/>
              </a:defRPr>
            </a:pPr>
            <a:r>
              <a:rPr sz="1425" b="0">
                <a:solidFill>
                  <a:srgbClr val="172B4D"/>
                </a:solidFill>
                <a:latin typeface="Bitstream Charter"/>
                <a:ea typeface="Bitstream Charter"/>
                <a:cs typeface="Bitstream Charter"/>
              </a:rPr>
              <a:t>Ungültiges JSON liefert HTTP 500 mit Dateipfaden</a:t>
            </a:r>
          </a:p>
        </p:txBody>
      </p:sp>
      <p:sp>
        <p:nvSpPr>
          <p:cNvPr id="9" name="Rechteck 8">
            <a:extLst>
              <a:ext uri="{FF2B5EF4-FFF2-40B4-BE49-F238E27FC236}">
                <a16:creationId xmlns:a16="http://schemas.microsoft.com/office/drawing/2014/main" id="{9FD86489-40D2-4BD2-9B22-6CC62879A6F1}"/>
              </a:ext>
            </a:extLst>
          </p:cNvPr>
          <p:cNvSpPr>
            <a:spLocks noGrp="1"/>
          </p:cNvSpPr>
          <p:nvPr/>
        </p:nvSpPr>
        <p:spPr>
          <a:xfrm>
            <a:off x="685800" y="6496050"/>
            <a:ext cx="10820400" cy="209550"/>
          </a:xfrm>
          <a:prstGeom prst="rect">
            <a:avLst/>
          </a:prstGeom>
          <a:noFill/>
          <a:ln w="0">
            <a:noFill/>
          </a:ln>
        </p:spPr>
        <p:txBody>
          <a:bodyPr anchor="ctr">
            <a:noAutofit/>
          </a:bodyPr>
          <a:lstStyle/>
          <a:p>
            <a:pPr algn="r">
              <a:defRPr sz="900" b="0">
                <a:solidFill>
                  <a:srgbClr val="78909C"/>
                </a:solidFill>
                <a:latin typeface="Bitstream Charter"/>
                <a:ea typeface="Bitstream Charter"/>
                <a:cs typeface="Bitstream Charter"/>
              </a:defRPr>
            </a:pPr>
            <a:r>
              <a:rPr sz="900" b="0">
                <a:solidFill>
                  <a:srgbClr val="78909C"/>
                </a:solidFill>
                <a:latin typeface="Bitstream Charter"/>
                <a:ea typeface="Bitstream Charter"/>
                <a:cs typeface="Bitstream Charter"/>
              </a:rPr>
              <a:t>M450 LB-02   Sladjan Vasic                                      5</a:t>
            </a:r>
          </a:p>
        </p:txBody>
      </p:sp>
    </p:spTree>
    <p:extLst>
      <p:ext uri="{BB962C8B-B14F-4D97-AF65-F5344CB8AC3E}">
        <p14:creationId xmlns:p14="http://schemas.microsoft.com/office/powerpoint/2010/main" val="16612139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Rechteck 11">
            <a:extLst>
              <a:ext uri="{FF2B5EF4-FFF2-40B4-BE49-F238E27FC236}">
                <a16:creationId xmlns:a16="http://schemas.microsoft.com/office/drawing/2014/main" id="{B5BFCFA6-4BEC-4651-A1E9-6E3F7AD3017E}"/>
              </a:ext>
            </a:extLst>
          </p:cNvPr>
          <p:cNvSpPr>
            <a:spLocks noGrp="1"/>
          </p:cNvSpPr>
          <p:nvPr/>
        </p:nvSpPr>
        <p:spPr>
          <a:xfrm>
            <a:off x="666750" y="400050"/>
            <a:ext cx="10858500" cy="552450"/>
          </a:xfrm>
          <a:prstGeom prst="rect">
            <a:avLst/>
          </a:prstGeom>
          <a:noFill/>
          <a:ln w="0">
            <a:noFill/>
          </a:ln>
        </p:spPr>
        <p:txBody>
          <a:bodyPr anchor="ctr">
            <a:noAutofit/>
          </a:bodyPr>
          <a:lstStyle/>
          <a:p>
            <a:pPr algn="l">
              <a:defRPr sz="2700" b="1">
                <a:solidFill>
                  <a:srgbClr val="102A43"/>
                </a:solidFill>
                <a:latin typeface="Bitstream Charter"/>
                <a:ea typeface="Bitstream Charter"/>
                <a:cs typeface="Bitstream Charter"/>
              </a:defRPr>
            </a:pPr>
            <a:r>
              <a:rPr sz="2700" b="1">
                <a:solidFill>
                  <a:srgbClr val="102A43"/>
                </a:solidFill>
                <a:latin typeface="Bitstream Charter"/>
                <a:ea typeface="Bitstream Charter"/>
                <a:cs typeface="Bitstream Charter"/>
              </a:rPr>
              <a:t>Korrektur von DEF-02</a:t>
            </a:r>
          </a:p>
        </p:txBody>
      </p:sp>
      <p:sp>
        <p:nvSpPr>
          <p:cNvPr id="2" name="Rechteck 1">
            <a:extLst>
              <a:ext uri="{FF2B5EF4-FFF2-40B4-BE49-F238E27FC236}">
                <a16:creationId xmlns:a16="http://schemas.microsoft.com/office/drawing/2014/main" id="{71F7B55D-8D97-4B2E-82D6-D7A9FA256326}"/>
              </a:ext>
            </a:extLst>
          </p:cNvPr>
          <p:cNvSpPr>
            <a:spLocks noGrp="1"/>
          </p:cNvSpPr>
          <p:nvPr/>
        </p:nvSpPr>
        <p:spPr>
          <a:xfrm>
            <a:off x="685800" y="962025"/>
            <a:ext cx="10668000" cy="323850"/>
          </a:xfrm>
          <a:prstGeom prst="rect">
            <a:avLst/>
          </a:prstGeom>
          <a:noFill/>
          <a:ln w="0">
            <a:noFill/>
          </a:ln>
        </p:spPr>
        <p:txBody>
          <a:bodyPr anchor="ctr">
            <a:noAutofit/>
          </a:bodyPr>
          <a:lstStyle/>
          <a:p>
            <a:pPr algn="l">
              <a:defRPr sz="1350" b="0">
                <a:solidFill>
                  <a:srgbClr val="52667A"/>
                </a:solidFill>
                <a:latin typeface="Bitstream Charter"/>
                <a:ea typeface="Bitstream Charter"/>
                <a:cs typeface="Bitstream Charter"/>
              </a:defRPr>
            </a:pPr>
            <a:r>
              <a:rPr sz="1350" b="0">
                <a:solidFill>
                  <a:srgbClr val="52667A"/>
                </a:solidFill>
                <a:latin typeface="Bitstream Charter"/>
                <a:ea typeface="Bitstream Charter"/>
                <a:cs typeface="Bitstream Charter"/>
              </a:rPr>
              <a:t>Mitarbeiter dürfen nur eigene Tasks bearbeiten</a:t>
            </a:r>
          </a:p>
        </p:txBody>
      </p:sp>
      <p:sp>
        <p:nvSpPr>
          <p:cNvPr id="3" name="Rechteck 2">
            <a:extLst>
              <a:ext uri="{FF2B5EF4-FFF2-40B4-BE49-F238E27FC236}">
                <a16:creationId xmlns:a16="http://schemas.microsoft.com/office/drawing/2014/main" id="{582FCFD7-78F1-4C76-85D8-099843E3D073}"/>
              </a:ext>
            </a:extLst>
          </p:cNvPr>
          <p:cNvSpPr>
            <a:spLocks noGrp="1"/>
          </p:cNvSpPr>
          <p:nvPr/>
        </p:nvSpPr>
        <p:spPr>
          <a:xfrm>
            <a:off x="904875" y="1619250"/>
            <a:ext cx="4476750" cy="381000"/>
          </a:xfrm>
          <a:prstGeom prst="rect">
            <a:avLst/>
          </a:prstGeom>
          <a:noFill/>
          <a:ln w="0">
            <a:noFill/>
          </a:ln>
        </p:spPr>
        <p:txBody>
          <a:bodyPr anchor="ctr">
            <a:noAutofit/>
          </a:bodyPr>
          <a:lstStyle/>
          <a:p>
            <a:pPr algn="l">
              <a:defRPr sz="1800" b="1">
                <a:solidFill>
                  <a:srgbClr val="C53B3B"/>
                </a:solidFill>
                <a:latin typeface="Bitstream Charter"/>
                <a:ea typeface="Bitstream Charter"/>
                <a:cs typeface="Bitstream Charter"/>
              </a:defRPr>
            </a:pPr>
            <a:r>
              <a:rPr sz="1800" b="1">
                <a:solidFill>
                  <a:srgbClr val="C53B3B"/>
                </a:solidFill>
                <a:latin typeface="Bitstream Charter"/>
                <a:ea typeface="Bitstream Charter"/>
                <a:cs typeface="Bitstream Charter"/>
              </a:rPr>
              <a:t>Vorher</a:t>
            </a:r>
          </a:p>
        </p:txBody>
      </p:sp>
      <p:sp>
        <p:nvSpPr>
          <p:cNvPr id="4" name="Rechteck 3">
            <a:extLst>
              <a:ext uri="{FF2B5EF4-FFF2-40B4-BE49-F238E27FC236}">
                <a16:creationId xmlns:a16="http://schemas.microsoft.com/office/drawing/2014/main" id="{622E99E0-4078-4B0C-8EDF-E4A9F3B26615}"/>
              </a:ext>
            </a:extLst>
          </p:cNvPr>
          <p:cNvSpPr>
            <a:spLocks noGrp="1"/>
          </p:cNvSpPr>
          <p:nvPr/>
        </p:nvSpPr>
        <p:spPr>
          <a:xfrm>
            <a:off x="904875" y="2095500"/>
            <a:ext cx="4762500" cy="1381125"/>
          </a:xfrm>
          <a:prstGeom prst="rect">
            <a:avLst/>
          </a:prstGeom>
          <a:solidFill>
            <a:srgbClr val="FFF2F2"/>
          </a:solidFill>
          <a:ln w="0">
            <a:noFill/>
          </a:ln>
        </p:spPr>
        <p:txBody>
          <a:bodyPr anchor="ctr">
            <a:noAutofit/>
          </a:bodyPr>
          <a:lstStyle/>
          <a:p>
            <a:pPr algn="l">
              <a:defRPr sz="1425" b="0">
                <a:solidFill>
                  <a:srgbClr val="172B4D"/>
                </a:solidFill>
                <a:latin typeface="DejaVu Sans Mono"/>
                <a:ea typeface="DejaVu Sans Mono"/>
                <a:cs typeface="DejaVu Sans Mono"/>
              </a:defRPr>
            </a:pPr>
            <a:r>
              <a:rPr sz="1425" b="0">
                <a:solidFill>
                  <a:srgbClr val="172B4D"/>
                </a:solidFill>
                <a:latin typeface="DejaVu Sans Mono"/>
                <a:ea typeface="DejaVu Sans Mono"/>
                <a:cs typeface="DejaVu Sans Mono"/>
              </a:rPr>
              <a:t>function canEditTask(user, task) {</a:t>
            </a:r>
          </a:p>
          <a:p>
            <a:pPr algn="l">
              <a:defRPr sz="1425" b="0">
                <a:solidFill>
                  <a:srgbClr val="172B4D"/>
                </a:solidFill>
                <a:latin typeface="DejaVu Sans Mono"/>
                <a:ea typeface="DejaVu Sans Mono"/>
                <a:cs typeface="DejaVu Sans Mono"/>
              </a:defRPr>
            </a:pPr>
            <a:r>
              <a:rPr sz="1425" b="0">
                <a:solidFill>
                  <a:srgbClr val="172B4D"/>
                </a:solidFill>
                <a:latin typeface="DejaVu Sans Mono"/>
                <a:ea typeface="DejaVu Sans Mono"/>
                <a:cs typeface="DejaVu Sans Mono"/>
              </a:rPr>
              <a:t>  return user.role === 'admin' || Boolean(user);</a:t>
            </a:r>
          </a:p>
          <a:p>
            <a:pPr algn="l">
              <a:defRPr sz="1425" b="0">
                <a:solidFill>
                  <a:srgbClr val="172B4D"/>
                </a:solidFill>
                <a:latin typeface="DejaVu Sans Mono"/>
                <a:ea typeface="DejaVu Sans Mono"/>
                <a:cs typeface="DejaVu Sans Mono"/>
              </a:defRPr>
            </a:pPr>
            <a:r>
              <a:rPr sz="1425" b="0">
                <a:solidFill>
                  <a:srgbClr val="172B4D"/>
                </a:solidFill>
                <a:latin typeface="DejaVu Sans Mono"/>
                <a:ea typeface="DejaVu Sans Mono"/>
                <a:cs typeface="DejaVu Sans Mono"/>
              </a:rPr>
              <a:t>}</a:t>
            </a:r>
          </a:p>
        </p:txBody>
      </p:sp>
      <p:sp>
        <p:nvSpPr>
          <p:cNvPr id="5" name="Rechteck 4">
            <a:extLst>
              <a:ext uri="{FF2B5EF4-FFF2-40B4-BE49-F238E27FC236}">
                <a16:creationId xmlns:a16="http://schemas.microsoft.com/office/drawing/2014/main" id="{542DD016-C9EA-48D1-9DFD-4DA3DA6498F6}"/>
              </a:ext>
            </a:extLst>
          </p:cNvPr>
          <p:cNvSpPr>
            <a:spLocks noGrp="1"/>
          </p:cNvSpPr>
          <p:nvPr/>
        </p:nvSpPr>
        <p:spPr>
          <a:xfrm>
            <a:off x="904875" y="3667125"/>
            <a:ext cx="4762500" cy="685800"/>
          </a:xfrm>
          <a:prstGeom prst="rect">
            <a:avLst/>
          </a:prstGeom>
          <a:noFill/>
          <a:ln w="0">
            <a:noFill/>
          </a:ln>
        </p:spPr>
        <p:txBody>
          <a:bodyPr anchor="ctr">
            <a:noAutofit/>
          </a:bodyPr>
          <a:lstStyle/>
          <a:p>
            <a:pPr algn="l">
              <a:defRPr sz="1575" b="1">
                <a:solidFill>
                  <a:srgbClr val="C53B3B"/>
                </a:solidFill>
                <a:latin typeface="Bitstream Charter"/>
                <a:ea typeface="Bitstream Charter"/>
                <a:cs typeface="Bitstream Charter"/>
              </a:defRPr>
            </a:pPr>
            <a:r>
              <a:rPr sz="1575" b="1">
                <a:solidFill>
                  <a:srgbClr val="C53B3B"/>
                </a:solidFill>
                <a:latin typeface="Bitstream Charter"/>
                <a:ea typeface="Bitstream Charter"/>
                <a:cs typeface="Bitstream Charter"/>
              </a:rPr>
              <a:t>Boolean(user) ist für jeden angemeldeten Benutzer wahr</a:t>
            </a:r>
          </a:p>
        </p:txBody>
      </p:sp>
      <p:sp>
        <p:nvSpPr>
          <p:cNvPr id="6" name="Rechteck 5">
            <a:extLst>
              <a:ext uri="{FF2B5EF4-FFF2-40B4-BE49-F238E27FC236}">
                <a16:creationId xmlns:a16="http://schemas.microsoft.com/office/drawing/2014/main" id="{9024F68E-D614-4F2E-B151-6D5A9153A565}"/>
              </a:ext>
            </a:extLst>
          </p:cNvPr>
          <p:cNvSpPr>
            <a:spLocks noGrp="1"/>
          </p:cNvSpPr>
          <p:nvPr/>
        </p:nvSpPr>
        <p:spPr>
          <a:xfrm>
            <a:off x="6524625" y="1619250"/>
            <a:ext cx="4476750" cy="381000"/>
          </a:xfrm>
          <a:prstGeom prst="rect">
            <a:avLst/>
          </a:prstGeom>
          <a:noFill/>
          <a:ln w="0">
            <a:noFill/>
          </a:ln>
        </p:spPr>
        <p:txBody>
          <a:bodyPr anchor="ctr">
            <a:noAutofit/>
          </a:bodyPr>
          <a:lstStyle/>
          <a:p>
            <a:pPr algn="l">
              <a:defRPr sz="1800" b="1">
                <a:solidFill>
                  <a:srgbClr val="1F7A4D"/>
                </a:solidFill>
                <a:latin typeface="Bitstream Charter"/>
                <a:ea typeface="Bitstream Charter"/>
                <a:cs typeface="Bitstream Charter"/>
              </a:defRPr>
            </a:pPr>
            <a:r>
              <a:rPr sz="1800" b="1">
                <a:solidFill>
                  <a:srgbClr val="1F7A4D"/>
                </a:solidFill>
                <a:latin typeface="Bitstream Charter"/>
                <a:ea typeface="Bitstream Charter"/>
                <a:cs typeface="Bitstream Charter"/>
              </a:rPr>
              <a:t>Nachher</a:t>
            </a:r>
          </a:p>
        </p:txBody>
      </p:sp>
      <p:sp>
        <p:nvSpPr>
          <p:cNvPr id="7" name="Rechteck 6">
            <a:extLst>
              <a:ext uri="{FF2B5EF4-FFF2-40B4-BE49-F238E27FC236}">
                <a16:creationId xmlns:a16="http://schemas.microsoft.com/office/drawing/2014/main" id="{8E2D615B-E2F0-4DCA-9593-83F02DD976F0}"/>
              </a:ext>
            </a:extLst>
          </p:cNvPr>
          <p:cNvSpPr>
            <a:spLocks noGrp="1"/>
          </p:cNvSpPr>
          <p:nvPr/>
        </p:nvSpPr>
        <p:spPr>
          <a:xfrm>
            <a:off x="6524625" y="2095500"/>
            <a:ext cx="4762500" cy="1381125"/>
          </a:xfrm>
          <a:prstGeom prst="rect">
            <a:avLst/>
          </a:prstGeom>
          <a:solidFill>
            <a:srgbClr val="EEF9F3"/>
          </a:solidFill>
          <a:ln w="0">
            <a:noFill/>
          </a:ln>
        </p:spPr>
        <p:txBody>
          <a:bodyPr anchor="ctr">
            <a:noAutofit/>
          </a:bodyPr>
          <a:lstStyle/>
          <a:p>
            <a:pPr algn="l">
              <a:defRPr sz="1425" b="0">
                <a:solidFill>
                  <a:srgbClr val="172B4D"/>
                </a:solidFill>
                <a:latin typeface="DejaVu Sans Mono"/>
                <a:ea typeface="DejaVu Sans Mono"/>
                <a:cs typeface="DejaVu Sans Mono"/>
              </a:defRPr>
            </a:pPr>
            <a:r>
              <a:rPr sz="1425" b="0">
                <a:solidFill>
                  <a:srgbClr val="172B4D"/>
                </a:solidFill>
                <a:latin typeface="DejaVu Sans Mono"/>
                <a:ea typeface="DejaVu Sans Mono"/>
                <a:cs typeface="DejaVu Sans Mono"/>
              </a:rPr>
              <a:t>function canEditTask(user, task) {</a:t>
            </a:r>
          </a:p>
          <a:p>
            <a:pPr algn="l">
              <a:defRPr sz="1425" b="0">
                <a:solidFill>
                  <a:srgbClr val="172B4D"/>
                </a:solidFill>
                <a:latin typeface="DejaVu Sans Mono"/>
                <a:ea typeface="DejaVu Sans Mono"/>
                <a:cs typeface="DejaVu Sans Mono"/>
              </a:defRPr>
            </a:pPr>
            <a:r>
              <a:rPr sz="1425" b="0">
                <a:solidFill>
                  <a:srgbClr val="172B4D"/>
                </a:solidFill>
                <a:latin typeface="DejaVu Sans Mono"/>
                <a:ea typeface="DejaVu Sans Mono"/>
                <a:cs typeface="DejaVu Sans Mono"/>
              </a:rPr>
              <a:t>  return user.role === 'admin' || task.ownerId === user.id;</a:t>
            </a:r>
          </a:p>
          <a:p>
            <a:pPr algn="l">
              <a:defRPr sz="1425" b="0">
                <a:solidFill>
                  <a:srgbClr val="172B4D"/>
                </a:solidFill>
                <a:latin typeface="DejaVu Sans Mono"/>
                <a:ea typeface="DejaVu Sans Mono"/>
                <a:cs typeface="DejaVu Sans Mono"/>
              </a:defRPr>
            </a:pPr>
            <a:r>
              <a:rPr sz="1425" b="0">
                <a:solidFill>
                  <a:srgbClr val="172B4D"/>
                </a:solidFill>
                <a:latin typeface="DejaVu Sans Mono"/>
                <a:ea typeface="DejaVu Sans Mono"/>
                <a:cs typeface="DejaVu Sans Mono"/>
              </a:rPr>
              <a:t>}</a:t>
            </a:r>
          </a:p>
        </p:txBody>
      </p:sp>
      <p:sp>
        <p:nvSpPr>
          <p:cNvPr id="8" name="Rechteck 7">
            <a:extLst>
              <a:ext uri="{FF2B5EF4-FFF2-40B4-BE49-F238E27FC236}">
                <a16:creationId xmlns:a16="http://schemas.microsoft.com/office/drawing/2014/main" id="{BF101C35-7C2C-4E55-9F22-EE65B71540A3}"/>
              </a:ext>
            </a:extLst>
          </p:cNvPr>
          <p:cNvSpPr>
            <a:spLocks noGrp="1"/>
          </p:cNvSpPr>
          <p:nvPr/>
        </p:nvSpPr>
        <p:spPr>
          <a:xfrm>
            <a:off x="6524625" y="3667125"/>
            <a:ext cx="4762500" cy="685800"/>
          </a:xfrm>
          <a:prstGeom prst="rect">
            <a:avLst/>
          </a:prstGeom>
          <a:noFill/>
          <a:ln w="0">
            <a:noFill/>
          </a:ln>
        </p:spPr>
        <p:txBody>
          <a:bodyPr anchor="ctr">
            <a:noAutofit/>
          </a:bodyPr>
          <a:lstStyle/>
          <a:p>
            <a:pPr algn="l">
              <a:defRPr sz="1575" b="1">
                <a:solidFill>
                  <a:srgbClr val="1F7A4D"/>
                </a:solidFill>
                <a:latin typeface="Bitstream Charter"/>
                <a:ea typeface="Bitstream Charter"/>
                <a:cs typeface="Bitstream Charter"/>
              </a:defRPr>
            </a:pPr>
            <a:r>
              <a:rPr sz="1575" b="1">
                <a:solidFill>
                  <a:srgbClr val="1F7A4D"/>
                </a:solidFill>
                <a:latin typeface="Bitstream Charter"/>
                <a:ea typeface="Bitstream Charter"/>
                <a:cs typeface="Bitstream Charter"/>
              </a:rPr>
              <a:t>Eigentümer oder Administrator</a:t>
            </a:r>
          </a:p>
        </p:txBody>
      </p:sp>
      <p:sp>
        <p:nvSpPr>
          <p:cNvPr id="9" name="Rechteck 8">
            <a:extLst>
              <a:ext uri="{FF2B5EF4-FFF2-40B4-BE49-F238E27FC236}">
                <a16:creationId xmlns:a16="http://schemas.microsoft.com/office/drawing/2014/main" id="{E08B5496-86E5-4154-9685-8DD4E892718B}"/>
              </a:ext>
            </a:extLst>
          </p:cNvPr>
          <p:cNvSpPr>
            <a:spLocks noGrp="1"/>
          </p:cNvSpPr>
          <p:nvPr/>
        </p:nvSpPr>
        <p:spPr>
          <a:xfrm>
            <a:off x="1524000" y="5000625"/>
            <a:ext cx="3905250" cy="523875"/>
          </a:xfrm>
          <a:prstGeom prst="rect">
            <a:avLst/>
          </a:prstGeom>
          <a:noFill/>
          <a:ln w="0">
            <a:noFill/>
          </a:ln>
        </p:spPr>
        <p:txBody>
          <a:bodyPr anchor="ctr">
            <a:noAutofit/>
          </a:bodyPr>
          <a:lstStyle/>
          <a:p>
            <a:pPr algn="ctr">
              <a:defRPr sz="1875" b="1">
                <a:solidFill>
                  <a:srgbClr val="102A43"/>
                </a:solidFill>
                <a:latin typeface="Bitstream Charter"/>
                <a:ea typeface="Bitstream Charter"/>
                <a:cs typeface="Bitstream Charter"/>
              </a:defRPr>
            </a:pPr>
            <a:r>
              <a:rPr sz="1875" b="1">
                <a:solidFill>
                  <a:srgbClr val="102A43"/>
                </a:solidFill>
                <a:latin typeface="Bitstream Charter"/>
                <a:ea typeface="Bitstream Charter"/>
                <a:cs typeface="Bitstream Charter"/>
              </a:rPr>
              <a:t>Retest: Bob erhält HTTP 403</a:t>
            </a:r>
          </a:p>
        </p:txBody>
      </p:sp>
      <p:sp>
        <p:nvSpPr>
          <p:cNvPr id="10" name="Rechteck 9">
            <a:extLst>
              <a:ext uri="{FF2B5EF4-FFF2-40B4-BE49-F238E27FC236}">
                <a16:creationId xmlns:a16="http://schemas.microsoft.com/office/drawing/2014/main" id="{4587DCD5-F1E5-410F-A361-5C577072E300}"/>
              </a:ext>
            </a:extLst>
          </p:cNvPr>
          <p:cNvSpPr>
            <a:spLocks noGrp="1"/>
          </p:cNvSpPr>
          <p:nvPr/>
        </p:nvSpPr>
        <p:spPr>
          <a:xfrm>
            <a:off x="6286500" y="5000625"/>
            <a:ext cx="4476750" cy="523875"/>
          </a:xfrm>
          <a:prstGeom prst="rect">
            <a:avLst/>
          </a:prstGeom>
          <a:noFill/>
          <a:ln w="0">
            <a:noFill/>
          </a:ln>
        </p:spPr>
        <p:txBody>
          <a:bodyPr anchor="ctr">
            <a:noAutofit/>
          </a:bodyPr>
          <a:lstStyle/>
          <a:p>
            <a:pPr algn="ctr">
              <a:defRPr sz="1875" b="1">
                <a:solidFill>
                  <a:srgbClr val="102A43"/>
                </a:solidFill>
                <a:latin typeface="Bitstream Charter"/>
                <a:ea typeface="Bitstream Charter"/>
                <a:cs typeface="Bitstream Charter"/>
              </a:defRPr>
            </a:pPr>
            <a:r>
              <a:rPr sz="1875" b="1">
                <a:solidFill>
                  <a:srgbClr val="102A43"/>
                </a:solidFill>
                <a:latin typeface="Bitstream Charter"/>
                <a:ea typeface="Bitstream Charter"/>
                <a:cs typeface="Bitstream Charter"/>
              </a:rPr>
              <a:t>Regression: Alice kann t1 weiterhin bearbeiten</a:t>
            </a:r>
          </a:p>
        </p:txBody>
      </p:sp>
      <p:sp>
        <p:nvSpPr>
          <p:cNvPr id="11" name="Rechteck 10">
            <a:extLst>
              <a:ext uri="{FF2B5EF4-FFF2-40B4-BE49-F238E27FC236}">
                <a16:creationId xmlns:a16="http://schemas.microsoft.com/office/drawing/2014/main" id="{6F024117-DB37-49C8-AE80-5E672D10924F}"/>
              </a:ext>
            </a:extLst>
          </p:cNvPr>
          <p:cNvSpPr>
            <a:spLocks noGrp="1"/>
          </p:cNvSpPr>
          <p:nvPr/>
        </p:nvSpPr>
        <p:spPr>
          <a:xfrm>
            <a:off x="685800" y="6496050"/>
            <a:ext cx="10820400" cy="209550"/>
          </a:xfrm>
          <a:prstGeom prst="rect">
            <a:avLst/>
          </a:prstGeom>
          <a:noFill/>
          <a:ln w="0">
            <a:noFill/>
          </a:ln>
        </p:spPr>
        <p:txBody>
          <a:bodyPr anchor="ctr">
            <a:noAutofit/>
          </a:bodyPr>
          <a:lstStyle/>
          <a:p>
            <a:pPr algn="r">
              <a:defRPr sz="900" b="0">
                <a:solidFill>
                  <a:srgbClr val="78909C"/>
                </a:solidFill>
                <a:latin typeface="Bitstream Charter"/>
                <a:ea typeface="Bitstream Charter"/>
                <a:cs typeface="Bitstream Charter"/>
              </a:defRPr>
            </a:pPr>
            <a:r>
              <a:rPr sz="900" b="0">
                <a:solidFill>
                  <a:srgbClr val="78909C"/>
                </a:solidFill>
                <a:latin typeface="Bitstream Charter"/>
                <a:ea typeface="Bitstream Charter"/>
                <a:cs typeface="Bitstream Charter"/>
              </a:rPr>
              <a:t>M450 LB-02   Sladjan Vasic                                      6</a:t>
            </a:r>
          </a:p>
        </p:txBody>
      </p:sp>
    </p:spTree>
    <p:extLst>
      <p:ext uri="{BB962C8B-B14F-4D97-AF65-F5344CB8AC3E}">
        <p14:creationId xmlns:p14="http://schemas.microsoft.com/office/powerpoint/2010/main" val="962220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Rechteck 11">
            <a:extLst>
              <a:ext uri="{FF2B5EF4-FFF2-40B4-BE49-F238E27FC236}">
                <a16:creationId xmlns:a16="http://schemas.microsoft.com/office/drawing/2014/main" id="{41678ACA-D36A-46E0-AD32-85C8B4F094D5}"/>
              </a:ext>
            </a:extLst>
          </p:cNvPr>
          <p:cNvSpPr>
            <a:spLocks noGrp="1"/>
          </p:cNvSpPr>
          <p:nvPr/>
        </p:nvSpPr>
        <p:spPr>
          <a:xfrm>
            <a:off x="666750" y="400050"/>
            <a:ext cx="10858500" cy="552450"/>
          </a:xfrm>
          <a:prstGeom prst="rect">
            <a:avLst/>
          </a:prstGeom>
          <a:noFill/>
          <a:ln w="0">
            <a:noFill/>
          </a:ln>
        </p:spPr>
        <p:txBody>
          <a:bodyPr anchor="ctr">
            <a:noAutofit/>
          </a:bodyPr>
          <a:lstStyle/>
          <a:p>
            <a:pPr algn="l">
              <a:defRPr sz="2700" b="1">
                <a:solidFill>
                  <a:srgbClr val="102A43"/>
                </a:solidFill>
                <a:latin typeface="Bitstream Charter"/>
                <a:ea typeface="Bitstream Charter"/>
                <a:cs typeface="Bitstream Charter"/>
              </a:defRPr>
            </a:pPr>
            <a:r>
              <a:rPr sz="2700" b="1">
                <a:solidFill>
                  <a:srgbClr val="102A43"/>
                </a:solidFill>
                <a:latin typeface="Bitstream Charter"/>
                <a:ea typeface="Bitstream Charter"/>
                <a:cs typeface="Bitstream Charter"/>
              </a:rPr>
              <a:t>Live-Demo</a:t>
            </a:r>
          </a:p>
        </p:txBody>
      </p:sp>
      <p:sp>
        <p:nvSpPr>
          <p:cNvPr id="2" name="Rechteck 1">
            <a:extLst>
              <a:ext uri="{FF2B5EF4-FFF2-40B4-BE49-F238E27FC236}">
                <a16:creationId xmlns:a16="http://schemas.microsoft.com/office/drawing/2014/main" id="{2653CE2E-971E-4D29-93BF-3AD332CA0C1D}"/>
              </a:ext>
            </a:extLst>
          </p:cNvPr>
          <p:cNvSpPr>
            <a:spLocks noGrp="1"/>
          </p:cNvSpPr>
          <p:nvPr/>
        </p:nvSpPr>
        <p:spPr>
          <a:xfrm>
            <a:off x="685800" y="962025"/>
            <a:ext cx="10668000" cy="323850"/>
          </a:xfrm>
          <a:prstGeom prst="rect">
            <a:avLst/>
          </a:prstGeom>
          <a:noFill/>
          <a:ln w="0">
            <a:noFill/>
          </a:ln>
        </p:spPr>
        <p:txBody>
          <a:bodyPr anchor="ctr">
            <a:noAutofit/>
          </a:bodyPr>
          <a:lstStyle/>
          <a:p>
            <a:pPr algn="l">
              <a:defRPr sz="1350" b="0">
                <a:solidFill>
                  <a:srgbClr val="52667A"/>
                </a:solidFill>
                <a:latin typeface="Bitstream Charter"/>
                <a:ea typeface="Bitstream Charter"/>
                <a:cs typeface="Bitstream Charter"/>
              </a:defRPr>
            </a:pPr>
            <a:r>
              <a:rPr sz="1350" b="0">
                <a:solidFill>
                  <a:srgbClr val="52667A"/>
                </a:solidFill>
                <a:latin typeface="Bitstream Charter"/>
                <a:ea typeface="Bitstream Charter"/>
                <a:cs typeface="Bitstream Charter"/>
              </a:rPr>
              <a:t>Automatisierter Retest und API-Autorisierung</a:t>
            </a:r>
          </a:p>
        </p:txBody>
      </p:sp>
      <p:pic>
        <p:nvPicPr>
          <p:cNvPr id="14" name="Grafik 13"/>
          <p:cNvPicPr>
            <a:picLocks noChangeAspect="1"/>
          </p:cNvPicPr>
          <p:nvPr/>
        </p:nvPicPr>
        <p:blipFill>
          <a:blip r:embed="rId3"/>
          <a:stretch/>
        </p:blipFill>
        <p:spPr>
          <a:xfrm>
            <a:off x="5095875" y="2133413"/>
            <a:ext cx="6572250" cy="2495925"/>
          </a:xfrm>
          <a:prstGeom prst="rect">
            <a:avLst/>
          </a:prstGeom>
        </p:spPr>
      </p:pic>
      <p:sp>
        <p:nvSpPr>
          <p:cNvPr id="4" name="Rechteck 3">
            <a:extLst>
              <a:ext uri="{FF2B5EF4-FFF2-40B4-BE49-F238E27FC236}">
                <a16:creationId xmlns:a16="http://schemas.microsoft.com/office/drawing/2014/main" id="{11681484-8118-43D3-9A90-6DE9BDC0E466}"/>
              </a:ext>
            </a:extLst>
          </p:cNvPr>
          <p:cNvSpPr>
            <a:spLocks noGrp="1"/>
          </p:cNvSpPr>
          <p:nvPr/>
        </p:nvSpPr>
        <p:spPr>
          <a:xfrm>
            <a:off x="809625" y="1762125"/>
            <a:ext cx="666750" cy="619125"/>
          </a:xfrm>
          <a:prstGeom prst="rect">
            <a:avLst/>
          </a:prstGeom>
          <a:noFill/>
          <a:ln w="0">
            <a:noFill/>
          </a:ln>
        </p:spPr>
        <p:txBody>
          <a:bodyPr anchor="ctr">
            <a:noAutofit/>
          </a:bodyPr>
          <a:lstStyle/>
          <a:p>
            <a:pPr algn="ctr">
              <a:defRPr sz="3375" b="1">
                <a:solidFill>
                  <a:srgbClr val="2364AA"/>
                </a:solidFill>
                <a:latin typeface="Bitstream Charter"/>
                <a:ea typeface="Bitstream Charter"/>
                <a:cs typeface="Bitstream Charter"/>
              </a:defRPr>
            </a:pPr>
            <a:r>
              <a:rPr sz="3375" b="1">
                <a:solidFill>
                  <a:srgbClr val="2364AA"/>
                </a:solidFill>
                <a:latin typeface="Bitstream Charter"/>
                <a:ea typeface="Bitstream Charter"/>
                <a:cs typeface="Bitstream Charter"/>
              </a:rPr>
              <a:t>1</a:t>
            </a:r>
          </a:p>
        </p:txBody>
      </p:sp>
      <p:sp>
        <p:nvSpPr>
          <p:cNvPr id="5" name="Rechteck 4">
            <a:extLst>
              <a:ext uri="{FF2B5EF4-FFF2-40B4-BE49-F238E27FC236}">
                <a16:creationId xmlns:a16="http://schemas.microsoft.com/office/drawing/2014/main" id="{C35AAAAC-CB6D-4DA4-89B2-F0AF65389B32}"/>
              </a:ext>
            </a:extLst>
          </p:cNvPr>
          <p:cNvSpPr>
            <a:spLocks noGrp="1"/>
          </p:cNvSpPr>
          <p:nvPr/>
        </p:nvSpPr>
        <p:spPr>
          <a:xfrm>
            <a:off x="1571625" y="1762125"/>
            <a:ext cx="2857500" cy="619125"/>
          </a:xfrm>
          <a:prstGeom prst="rect">
            <a:avLst/>
          </a:prstGeom>
          <a:noFill/>
          <a:ln w="0">
            <a:noFill/>
          </a:ln>
        </p:spPr>
        <p:txBody>
          <a:bodyPr anchor="ctr">
            <a:noAutofit/>
          </a:bodyPr>
          <a:lstStyle/>
          <a:p>
            <a:pPr algn="l">
              <a:defRPr sz="2100" b="1">
                <a:solidFill>
                  <a:srgbClr val="102A43"/>
                </a:solidFill>
                <a:latin typeface="DejaVu Sans Mono"/>
                <a:ea typeface="DejaVu Sans Mono"/>
                <a:cs typeface="DejaVu Sans Mono"/>
              </a:defRPr>
            </a:pPr>
            <a:r>
              <a:rPr sz="2100" b="1">
                <a:solidFill>
                  <a:srgbClr val="102A43"/>
                </a:solidFill>
                <a:latin typeface="DejaVu Sans Mono"/>
                <a:ea typeface="DejaVu Sans Mono"/>
                <a:cs typeface="DejaVu Sans Mono"/>
              </a:rPr>
              <a:t>npm test</a:t>
            </a:r>
          </a:p>
        </p:txBody>
      </p:sp>
      <p:sp>
        <p:nvSpPr>
          <p:cNvPr id="6" name="Rechteck 5">
            <a:extLst>
              <a:ext uri="{FF2B5EF4-FFF2-40B4-BE49-F238E27FC236}">
                <a16:creationId xmlns:a16="http://schemas.microsoft.com/office/drawing/2014/main" id="{E4237B78-A86A-486B-9058-7E0C58C8611E}"/>
              </a:ext>
            </a:extLst>
          </p:cNvPr>
          <p:cNvSpPr>
            <a:spLocks noGrp="1"/>
          </p:cNvSpPr>
          <p:nvPr/>
        </p:nvSpPr>
        <p:spPr>
          <a:xfrm>
            <a:off x="1571625" y="2362200"/>
            <a:ext cx="2952750" cy="666750"/>
          </a:xfrm>
          <a:prstGeom prst="rect">
            <a:avLst/>
          </a:prstGeom>
          <a:noFill/>
          <a:ln w="0">
            <a:noFill/>
          </a:ln>
        </p:spPr>
        <p:txBody>
          <a:bodyPr anchor="ctr">
            <a:noAutofit/>
          </a:bodyPr>
          <a:lstStyle/>
          <a:p>
            <a:pPr algn="l">
              <a:defRPr sz="1500" b="0">
                <a:solidFill>
                  <a:srgbClr val="52667A"/>
                </a:solidFill>
                <a:latin typeface="Bitstream Charter"/>
                <a:ea typeface="Bitstream Charter"/>
                <a:cs typeface="Bitstream Charter"/>
              </a:defRPr>
            </a:pPr>
            <a:r>
              <a:rPr sz="1500" b="0">
                <a:solidFill>
                  <a:srgbClr val="52667A"/>
                </a:solidFill>
                <a:latin typeface="Bitstream Charter"/>
                <a:ea typeface="Bitstream Charter"/>
                <a:cs typeface="Bitstream Charter"/>
              </a:rPr>
              <a:t>DEF-02 und Regression werden grün</a:t>
            </a:r>
          </a:p>
        </p:txBody>
      </p:sp>
      <p:sp>
        <p:nvSpPr>
          <p:cNvPr id="7" name="Rechteck 6">
            <a:extLst>
              <a:ext uri="{FF2B5EF4-FFF2-40B4-BE49-F238E27FC236}">
                <a16:creationId xmlns:a16="http://schemas.microsoft.com/office/drawing/2014/main" id="{16546F46-8BE9-442E-BDE9-48257F1A9074}"/>
              </a:ext>
            </a:extLst>
          </p:cNvPr>
          <p:cNvSpPr>
            <a:spLocks noGrp="1"/>
          </p:cNvSpPr>
          <p:nvPr/>
        </p:nvSpPr>
        <p:spPr>
          <a:xfrm>
            <a:off x="809625" y="3381375"/>
            <a:ext cx="666750" cy="619125"/>
          </a:xfrm>
          <a:prstGeom prst="rect">
            <a:avLst/>
          </a:prstGeom>
          <a:noFill/>
          <a:ln w="0">
            <a:noFill/>
          </a:ln>
        </p:spPr>
        <p:txBody>
          <a:bodyPr anchor="ctr">
            <a:noAutofit/>
          </a:bodyPr>
          <a:lstStyle/>
          <a:p>
            <a:pPr algn="ctr">
              <a:defRPr sz="3375" b="1">
                <a:solidFill>
                  <a:srgbClr val="2CB1BC"/>
                </a:solidFill>
                <a:latin typeface="Bitstream Charter"/>
                <a:ea typeface="Bitstream Charter"/>
                <a:cs typeface="Bitstream Charter"/>
              </a:defRPr>
            </a:pPr>
            <a:r>
              <a:rPr sz="3375" b="1">
                <a:solidFill>
                  <a:srgbClr val="2CB1BC"/>
                </a:solidFill>
                <a:latin typeface="Bitstream Charter"/>
                <a:ea typeface="Bitstream Charter"/>
                <a:cs typeface="Bitstream Charter"/>
              </a:rPr>
              <a:t>2</a:t>
            </a:r>
          </a:p>
        </p:txBody>
      </p:sp>
      <p:sp>
        <p:nvSpPr>
          <p:cNvPr id="8" name="Rechteck 7">
            <a:extLst>
              <a:ext uri="{FF2B5EF4-FFF2-40B4-BE49-F238E27FC236}">
                <a16:creationId xmlns:a16="http://schemas.microsoft.com/office/drawing/2014/main" id="{F1C5A639-C928-484E-87BF-4454AE07EC8C}"/>
              </a:ext>
            </a:extLst>
          </p:cNvPr>
          <p:cNvSpPr>
            <a:spLocks noGrp="1"/>
          </p:cNvSpPr>
          <p:nvPr/>
        </p:nvSpPr>
        <p:spPr>
          <a:xfrm>
            <a:off x="1571625" y="3381375"/>
            <a:ext cx="3238500" cy="619125"/>
          </a:xfrm>
          <a:prstGeom prst="rect">
            <a:avLst/>
          </a:prstGeom>
          <a:noFill/>
          <a:ln w="0">
            <a:noFill/>
          </a:ln>
        </p:spPr>
        <p:txBody>
          <a:bodyPr anchor="ctr">
            <a:noAutofit/>
          </a:bodyPr>
          <a:lstStyle/>
          <a:p>
            <a:pPr algn="l">
              <a:defRPr sz="1800" b="1">
                <a:solidFill>
                  <a:srgbClr val="102A43"/>
                </a:solidFill>
                <a:latin typeface="DejaVu Sans Mono"/>
                <a:ea typeface="DejaVu Sans Mono"/>
                <a:cs typeface="DejaVu Sans Mono"/>
              </a:defRPr>
            </a:pPr>
            <a:r>
              <a:rPr sz="1800" b="1">
                <a:solidFill>
                  <a:srgbClr val="102A43"/>
                </a:solidFill>
                <a:latin typeface="DejaVu Sans Mono"/>
                <a:ea typeface="DejaVu Sans Mono"/>
                <a:cs typeface="DejaVu Sans Mono"/>
              </a:rPr>
              <a:t>PATCH /api/tasks/t1</a:t>
            </a:r>
          </a:p>
        </p:txBody>
      </p:sp>
      <p:sp>
        <p:nvSpPr>
          <p:cNvPr id="9" name="Rechteck 8">
            <a:extLst>
              <a:ext uri="{FF2B5EF4-FFF2-40B4-BE49-F238E27FC236}">
                <a16:creationId xmlns:a16="http://schemas.microsoft.com/office/drawing/2014/main" id="{1B1EEC97-50F6-46EF-BDAA-E4F57234A026}"/>
              </a:ext>
            </a:extLst>
          </p:cNvPr>
          <p:cNvSpPr>
            <a:spLocks noGrp="1"/>
          </p:cNvSpPr>
          <p:nvPr/>
        </p:nvSpPr>
        <p:spPr>
          <a:xfrm>
            <a:off x="1571625" y="4000500"/>
            <a:ext cx="3095625" cy="857250"/>
          </a:xfrm>
          <a:prstGeom prst="rect">
            <a:avLst/>
          </a:prstGeom>
          <a:noFill/>
          <a:ln w="0">
            <a:noFill/>
          </a:ln>
        </p:spPr>
        <p:txBody>
          <a:bodyPr anchor="ctr">
            <a:noAutofit/>
          </a:bodyPr>
          <a:lstStyle/>
          <a:p>
            <a:pPr algn="l">
              <a:defRPr sz="1500" b="0">
                <a:solidFill>
                  <a:srgbClr val="52667A"/>
                </a:solidFill>
                <a:latin typeface="Bitstream Charter"/>
                <a:ea typeface="Bitstream Charter"/>
                <a:cs typeface="Bitstream Charter"/>
              </a:defRPr>
            </a:pPr>
            <a:r>
              <a:rPr sz="1500" b="0">
                <a:solidFill>
                  <a:srgbClr val="52667A"/>
                </a:solidFill>
                <a:latin typeface="Bitstream Charter"/>
                <a:ea typeface="Bitstream Charter"/>
                <a:cs typeface="Bitstream Charter"/>
              </a:rPr>
              <a:t>Bob erhält HTTP 403 und verändert den Task nicht</a:t>
            </a:r>
          </a:p>
        </p:txBody>
      </p:sp>
      <p:sp>
        <p:nvSpPr>
          <p:cNvPr id="10" name="Rechteck 9">
            <a:extLst>
              <a:ext uri="{FF2B5EF4-FFF2-40B4-BE49-F238E27FC236}">
                <a16:creationId xmlns:a16="http://schemas.microsoft.com/office/drawing/2014/main" id="{D3846E3E-E8D6-4F9D-B494-2EC5E7E00F94}"/>
              </a:ext>
            </a:extLst>
          </p:cNvPr>
          <p:cNvSpPr>
            <a:spLocks noGrp="1"/>
          </p:cNvSpPr>
          <p:nvPr/>
        </p:nvSpPr>
        <p:spPr>
          <a:xfrm>
            <a:off x="1143000" y="5619750"/>
            <a:ext cx="9906000" cy="476250"/>
          </a:xfrm>
          <a:prstGeom prst="rect">
            <a:avLst/>
          </a:prstGeom>
          <a:noFill/>
          <a:ln w="0">
            <a:noFill/>
          </a:ln>
        </p:spPr>
        <p:txBody>
          <a:bodyPr anchor="ctr">
            <a:noAutofit/>
          </a:bodyPr>
          <a:lstStyle/>
          <a:p>
            <a:pPr algn="ctr">
              <a:defRPr sz="1800" b="1">
                <a:solidFill>
                  <a:srgbClr val="1F7A4D"/>
                </a:solidFill>
                <a:latin typeface="Bitstream Charter"/>
                <a:ea typeface="Bitstream Charter"/>
                <a:cs typeface="Bitstream Charter"/>
              </a:defRPr>
            </a:pPr>
            <a:r>
              <a:rPr sz="1800" b="1">
                <a:solidFill>
                  <a:srgbClr val="1F7A4D"/>
                </a:solidFill>
                <a:latin typeface="Bitstream Charter"/>
                <a:ea typeface="Bitstream Charter"/>
                <a:cs typeface="Bitstream Charter"/>
              </a:rPr>
              <a:t>Erwartetes Demo-Ergebnis: Schutz vor unberechtigter Änderung</a:t>
            </a:r>
          </a:p>
        </p:txBody>
      </p:sp>
      <p:sp>
        <p:nvSpPr>
          <p:cNvPr id="11" name="Rechteck 10">
            <a:extLst>
              <a:ext uri="{FF2B5EF4-FFF2-40B4-BE49-F238E27FC236}">
                <a16:creationId xmlns:a16="http://schemas.microsoft.com/office/drawing/2014/main" id="{75AC96CA-2642-4AF9-AD05-23CF8AF39C6A}"/>
              </a:ext>
            </a:extLst>
          </p:cNvPr>
          <p:cNvSpPr>
            <a:spLocks noGrp="1"/>
          </p:cNvSpPr>
          <p:nvPr/>
        </p:nvSpPr>
        <p:spPr>
          <a:xfrm>
            <a:off x="685800" y="6496050"/>
            <a:ext cx="10820400" cy="209550"/>
          </a:xfrm>
          <a:prstGeom prst="rect">
            <a:avLst/>
          </a:prstGeom>
          <a:noFill/>
          <a:ln w="0">
            <a:noFill/>
          </a:ln>
        </p:spPr>
        <p:txBody>
          <a:bodyPr anchor="ctr">
            <a:noAutofit/>
          </a:bodyPr>
          <a:lstStyle/>
          <a:p>
            <a:pPr algn="r">
              <a:defRPr sz="900" b="0">
                <a:solidFill>
                  <a:srgbClr val="78909C"/>
                </a:solidFill>
                <a:latin typeface="Bitstream Charter"/>
                <a:ea typeface="Bitstream Charter"/>
                <a:cs typeface="Bitstream Charter"/>
              </a:defRPr>
            </a:pPr>
            <a:r>
              <a:rPr sz="900" b="0">
                <a:solidFill>
                  <a:srgbClr val="78909C"/>
                </a:solidFill>
                <a:latin typeface="Bitstream Charter"/>
                <a:ea typeface="Bitstream Charter"/>
                <a:cs typeface="Bitstream Charter"/>
              </a:rPr>
              <a:t>M450 LB-02   Sladjan Vasic                                      7</a:t>
            </a:r>
          </a:p>
        </p:txBody>
      </p:sp>
    </p:spTree>
    <p:extLst>
      <p:ext uri="{BB962C8B-B14F-4D97-AF65-F5344CB8AC3E}">
        <p14:creationId xmlns:p14="http://schemas.microsoft.com/office/powerpoint/2010/main" val="2721674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02A43"/>
        </a:solidFill>
        <a:effectLst/>
      </p:bgPr>
    </p:bg>
    <p:spTree>
      <p:nvGrpSpPr>
        <p:cNvPr id="1" name=""/>
        <p:cNvGrpSpPr/>
        <p:nvPr/>
      </p:nvGrpSpPr>
      <p:grpSpPr>
        <a:xfrm>
          <a:off x="0" y="0"/>
          <a:ext cx="0" cy="0"/>
          <a:chOff x="0" y="0"/>
          <a:chExt cx="0" cy="0"/>
        </a:xfrm>
      </p:grpSpPr>
      <p:sp>
        <p:nvSpPr>
          <p:cNvPr id="9" name="Rechteck 8">
            <a:extLst>
              <a:ext uri="{FF2B5EF4-FFF2-40B4-BE49-F238E27FC236}">
                <a16:creationId xmlns:a16="http://schemas.microsoft.com/office/drawing/2014/main" id="{E9A083F1-421F-4F56-A29A-BDF8286CBF82}"/>
              </a:ext>
            </a:extLst>
          </p:cNvPr>
          <p:cNvSpPr>
            <a:spLocks noGrp="1"/>
          </p:cNvSpPr>
          <p:nvPr/>
        </p:nvSpPr>
        <p:spPr>
          <a:xfrm>
            <a:off x="762000" y="619125"/>
            <a:ext cx="7620000" cy="609600"/>
          </a:xfrm>
          <a:prstGeom prst="rect">
            <a:avLst/>
          </a:prstGeom>
          <a:noFill/>
          <a:ln w="0">
            <a:noFill/>
          </a:ln>
        </p:spPr>
        <p:txBody>
          <a:bodyPr anchor="ctr">
            <a:noAutofit/>
          </a:bodyPr>
          <a:lstStyle/>
          <a:p>
            <a:pPr algn="l">
              <a:defRPr sz="2850" b="1">
                <a:solidFill>
                  <a:srgbClr val="FFFFFF"/>
                </a:solidFill>
                <a:latin typeface="Bitstream Charter"/>
                <a:ea typeface="Bitstream Charter"/>
                <a:cs typeface="Bitstream Charter"/>
              </a:defRPr>
            </a:pPr>
            <a:r>
              <a:rPr sz="2850" b="1">
                <a:solidFill>
                  <a:srgbClr val="FFFFFF"/>
                </a:solidFill>
                <a:latin typeface="Bitstream Charter"/>
                <a:ea typeface="Bitstream Charter"/>
                <a:cs typeface="Bitstream Charter"/>
              </a:rPr>
              <a:t>Release-Entscheidung</a:t>
            </a:r>
          </a:p>
        </p:txBody>
      </p:sp>
      <p:sp>
        <p:nvSpPr>
          <p:cNvPr id="2" name="Rechteck 1">
            <a:extLst>
              <a:ext uri="{FF2B5EF4-FFF2-40B4-BE49-F238E27FC236}">
                <a16:creationId xmlns:a16="http://schemas.microsoft.com/office/drawing/2014/main" id="{A87F52E0-B8BB-4247-9C41-D10204B5DD92}"/>
              </a:ext>
            </a:extLst>
          </p:cNvPr>
          <p:cNvSpPr>
            <a:spLocks noGrp="1"/>
          </p:cNvSpPr>
          <p:nvPr/>
        </p:nvSpPr>
        <p:spPr>
          <a:xfrm>
            <a:off x="762000" y="1619250"/>
            <a:ext cx="4762500" cy="1095375"/>
          </a:xfrm>
          <a:prstGeom prst="rect">
            <a:avLst/>
          </a:prstGeom>
          <a:noFill/>
          <a:ln w="0">
            <a:noFill/>
          </a:ln>
        </p:spPr>
        <p:txBody>
          <a:bodyPr anchor="ctr">
            <a:noAutofit/>
          </a:bodyPr>
          <a:lstStyle/>
          <a:p>
            <a:pPr algn="l">
              <a:defRPr sz="5700" b="1">
                <a:solidFill>
                  <a:srgbClr val="FF8A8A"/>
                </a:solidFill>
                <a:latin typeface="Bitstream Charter"/>
                <a:ea typeface="Bitstream Charter"/>
                <a:cs typeface="Bitstream Charter"/>
              </a:defRPr>
            </a:pPr>
            <a:r>
              <a:rPr sz="5700" b="1">
                <a:solidFill>
                  <a:srgbClr val="FF8A8A"/>
                </a:solidFill>
                <a:latin typeface="Bitstream Charter"/>
                <a:ea typeface="Bitstream Charter"/>
                <a:cs typeface="Bitstream Charter"/>
              </a:rPr>
              <a:t>NO-GO</a:t>
            </a:r>
          </a:p>
        </p:txBody>
      </p:sp>
      <p:sp>
        <p:nvSpPr>
          <p:cNvPr id="3" name="Rechteck 2">
            <a:extLst>
              <a:ext uri="{FF2B5EF4-FFF2-40B4-BE49-F238E27FC236}">
                <a16:creationId xmlns:a16="http://schemas.microsoft.com/office/drawing/2014/main" id="{79EF46D9-8CBB-4648-BE8B-89EF2656B2E4}"/>
              </a:ext>
            </a:extLst>
          </p:cNvPr>
          <p:cNvSpPr>
            <a:spLocks noGrp="1"/>
          </p:cNvSpPr>
          <p:nvPr/>
        </p:nvSpPr>
        <p:spPr>
          <a:xfrm>
            <a:off x="762000" y="2809875"/>
            <a:ext cx="6667500" cy="904875"/>
          </a:xfrm>
          <a:prstGeom prst="rect">
            <a:avLst/>
          </a:prstGeom>
          <a:noFill/>
          <a:ln w="0">
            <a:noFill/>
          </a:ln>
        </p:spPr>
        <p:txBody>
          <a:bodyPr anchor="ctr">
            <a:noAutofit/>
          </a:bodyPr>
          <a:lstStyle/>
          <a:p>
            <a:pPr algn="l">
              <a:defRPr sz="2250" b="1">
                <a:solidFill>
                  <a:srgbClr val="FFFFFF"/>
                </a:solidFill>
                <a:latin typeface="Bitstream Charter"/>
                <a:ea typeface="Bitstream Charter"/>
                <a:cs typeface="Bitstream Charter"/>
              </a:defRPr>
            </a:pPr>
            <a:r>
              <a:rPr sz="2250" b="1">
                <a:solidFill>
                  <a:srgbClr val="FFFFFF"/>
                </a:solidFill>
                <a:latin typeface="Bitstream Charter"/>
                <a:ea typeface="Bitstream Charter"/>
                <a:cs typeface="Bitstream Charter"/>
              </a:rPr>
              <a:t>Offene Sicherheitsdefects verhindern die Produktivsetzung</a:t>
            </a:r>
          </a:p>
        </p:txBody>
      </p:sp>
      <p:sp>
        <p:nvSpPr>
          <p:cNvPr id="4" name="Rechteck 3">
            <a:extLst>
              <a:ext uri="{FF2B5EF4-FFF2-40B4-BE49-F238E27FC236}">
                <a16:creationId xmlns:a16="http://schemas.microsoft.com/office/drawing/2014/main" id="{3A7EB80B-9544-4969-84A4-D06927399D8C}"/>
              </a:ext>
            </a:extLst>
          </p:cNvPr>
          <p:cNvSpPr>
            <a:spLocks noGrp="1"/>
          </p:cNvSpPr>
          <p:nvPr/>
        </p:nvSpPr>
        <p:spPr>
          <a:xfrm>
            <a:off x="7620000" y="1619250"/>
            <a:ext cx="3714750" cy="400050"/>
          </a:xfrm>
          <a:prstGeom prst="rect">
            <a:avLst/>
          </a:prstGeom>
          <a:noFill/>
          <a:ln w="0">
            <a:noFill/>
          </a:ln>
        </p:spPr>
        <p:txBody>
          <a:bodyPr anchor="ctr">
            <a:noAutofit/>
          </a:bodyPr>
          <a:lstStyle/>
          <a:p>
            <a:pPr algn="l">
              <a:defRPr sz="1725" b="1">
                <a:solidFill>
                  <a:srgbClr val="8EDCE6"/>
                </a:solidFill>
                <a:latin typeface="Bitstream Charter"/>
                <a:ea typeface="Bitstream Charter"/>
                <a:cs typeface="Bitstream Charter"/>
              </a:defRPr>
            </a:pPr>
            <a:r>
              <a:rPr sz="1725" b="1">
                <a:solidFill>
                  <a:srgbClr val="8EDCE6"/>
                </a:solidFill>
                <a:latin typeface="Bitstream Charter"/>
                <a:ea typeface="Bitstream Charter"/>
                <a:cs typeface="Bitstream Charter"/>
              </a:rPr>
              <a:t>Vor einem neuen Entscheid</a:t>
            </a:r>
          </a:p>
        </p:txBody>
      </p:sp>
      <p:sp>
        <p:nvSpPr>
          <p:cNvPr id="5" name="Rechteck 4">
            <a:extLst>
              <a:ext uri="{FF2B5EF4-FFF2-40B4-BE49-F238E27FC236}">
                <a16:creationId xmlns:a16="http://schemas.microsoft.com/office/drawing/2014/main" id="{E206DA65-9B6E-4FF3-BD0D-87FE5D7C3205}"/>
              </a:ext>
            </a:extLst>
          </p:cNvPr>
          <p:cNvSpPr>
            <a:spLocks noGrp="1"/>
          </p:cNvSpPr>
          <p:nvPr/>
        </p:nvSpPr>
        <p:spPr>
          <a:xfrm>
            <a:off x="7620000" y="2143125"/>
            <a:ext cx="3810000" cy="4286250"/>
          </a:xfrm>
          <a:prstGeom prst="rect">
            <a:avLst/>
          </a:prstGeom>
          <a:noFill/>
          <a:ln w="0">
            <a:noFill/>
          </a:ln>
        </p:spPr>
        <p:txBody>
          <a:bodyPr anchor="ctr">
            <a:noAutofit/>
          </a:bodyPr>
          <a:lstStyle/>
          <a:p>
            <a:pPr algn="l">
              <a:defRPr sz="1650" b="0">
                <a:solidFill>
                  <a:srgbClr val="FFFFFF"/>
                </a:solidFill>
                <a:latin typeface="Bitstream Charter"/>
                <a:ea typeface="Bitstream Charter"/>
                <a:cs typeface="Bitstream Charter"/>
              </a:defRPr>
            </a:pPr>
            <a:r>
              <a:rPr sz="1650" b="0" dirty="0">
                <a:solidFill>
                  <a:srgbClr val="FFFFFF"/>
                </a:solidFill>
                <a:latin typeface="Bitstream Charter"/>
                <a:ea typeface="Bitstream Charter"/>
                <a:cs typeface="Bitstream Charter"/>
              </a:rPr>
              <a:t>DEF-01 und DEF-05 </a:t>
            </a:r>
            <a:r>
              <a:rPr sz="1650" b="0" dirty="0" err="1">
                <a:solidFill>
                  <a:srgbClr val="FFFFFF"/>
                </a:solidFill>
                <a:latin typeface="Bitstream Charter"/>
                <a:ea typeface="Bitstream Charter"/>
                <a:cs typeface="Bitstream Charter"/>
              </a:rPr>
              <a:t>korrigieren</a:t>
            </a:r>
            <a:endParaRPr sz="1650" b="0" dirty="0">
              <a:solidFill>
                <a:srgbClr val="FFFFFF"/>
              </a:solidFill>
              <a:latin typeface="Bitstream Charter"/>
              <a:ea typeface="Bitstream Charter"/>
              <a:cs typeface="Bitstream Charter"/>
            </a:endParaRPr>
          </a:p>
          <a:p>
            <a:endParaRPr sz="1650" b="0" dirty="0">
              <a:solidFill>
                <a:srgbClr val="FFFFFF"/>
              </a:solidFill>
              <a:latin typeface="Bitstream Charter"/>
              <a:ea typeface="Bitstream Charter"/>
              <a:cs typeface="Bitstream Charter"/>
            </a:endParaRPr>
          </a:p>
          <a:p>
            <a:pPr marL="285750" indent="-285750">
              <a:buFont typeface="Arial" panose="020B0604020202020204" pitchFamily="34" charset="0"/>
              <a:buChar char="•"/>
              <a:defRPr sz="1650" b="0">
                <a:solidFill>
                  <a:srgbClr val="FFFFFF"/>
                </a:solidFill>
                <a:latin typeface="Bitstream Charter"/>
                <a:ea typeface="Bitstream Charter"/>
                <a:cs typeface="Bitstream Charter"/>
              </a:defRPr>
            </a:pPr>
            <a:r>
              <a:rPr lang="de-DE" sz="1650" dirty="0">
                <a:solidFill>
                  <a:srgbClr val="FFFFFF"/>
                </a:solidFill>
                <a:latin typeface="Bitstream Charter"/>
                <a:ea typeface="Bitstream Charter"/>
                <a:cs typeface="Bitstream Charter"/>
              </a:rPr>
              <a:t>Berechtigungsprüfung und sichere Fehlerbehandlung korrigieren</a:t>
            </a:r>
          </a:p>
          <a:p>
            <a:pPr marL="285750" indent="-285750">
              <a:buFont typeface="Arial" panose="020B0604020202020204" pitchFamily="34" charset="0"/>
              <a:buChar char="•"/>
              <a:defRPr sz="1650" b="0">
                <a:solidFill>
                  <a:srgbClr val="FFFFFF"/>
                </a:solidFill>
                <a:latin typeface="Bitstream Charter"/>
                <a:ea typeface="Bitstream Charter"/>
                <a:cs typeface="Bitstream Charter"/>
              </a:defRPr>
            </a:pPr>
            <a:r>
              <a:rPr lang="de-DE" sz="1650" dirty="0">
                <a:solidFill>
                  <a:srgbClr val="FFFFFF"/>
                </a:solidFill>
                <a:latin typeface="Bitstream Charter"/>
                <a:ea typeface="Bitstream Charter"/>
                <a:cs typeface="Bitstream Charter"/>
              </a:rPr>
              <a:t>Kontosperre nach genau fünf Fehlversuchen auslösen</a:t>
            </a:r>
          </a:p>
          <a:p>
            <a:pPr marL="285750" indent="-285750">
              <a:buFont typeface="Arial" panose="020B0604020202020204" pitchFamily="34" charset="0"/>
              <a:buChar char="•"/>
              <a:defRPr sz="1650" b="0">
                <a:solidFill>
                  <a:srgbClr val="FFFFFF"/>
                </a:solidFill>
                <a:latin typeface="Bitstream Charter"/>
                <a:ea typeface="Bitstream Charter"/>
                <a:cs typeface="Bitstream Charter"/>
              </a:defRPr>
            </a:pPr>
            <a:r>
              <a:rPr lang="de-DE" sz="1650" dirty="0">
                <a:solidFill>
                  <a:srgbClr val="FFFFFF"/>
                </a:solidFill>
                <a:latin typeface="Bitstream Charter"/>
                <a:ea typeface="Bitstream Charter"/>
                <a:cs typeface="Bitstream Charter"/>
              </a:rPr>
              <a:t>Fehlversuchszähler nach erfolgreichem Login zurücksetzen</a:t>
            </a:r>
          </a:p>
          <a:p>
            <a:pPr marL="285750" indent="-285750">
              <a:buFont typeface="Arial" panose="020B0604020202020204" pitchFamily="34" charset="0"/>
              <a:buChar char="•"/>
              <a:defRPr sz="1650" b="0">
                <a:solidFill>
                  <a:srgbClr val="FFFFFF"/>
                </a:solidFill>
                <a:latin typeface="Bitstream Charter"/>
                <a:ea typeface="Bitstream Charter"/>
                <a:cs typeface="Bitstream Charter"/>
              </a:defRPr>
            </a:pPr>
            <a:r>
              <a:rPr lang="de-DE" sz="1650" dirty="0" err="1">
                <a:solidFill>
                  <a:srgbClr val="FFFFFF"/>
                </a:solidFill>
                <a:latin typeface="Bitstream Charter"/>
                <a:ea typeface="Bitstream Charter"/>
                <a:cs typeface="Bitstream Charter"/>
              </a:rPr>
              <a:t>Retests</a:t>
            </a:r>
            <a:r>
              <a:rPr lang="de-DE" sz="1650" dirty="0">
                <a:solidFill>
                  <a:srgbClr val="FFFFFF"/>
                </a:solidFill>
                <a:latin typeface="Bitstream Charter"/>
                <a:ea typeface="Bitstream Charter"/>
                <a:cs typeface="Bitstream Charter"/>
              </a:rPr>
              <a:t> und vollständige Regression durchführen</a:t>
            </a:r>
            <a:endParaRPr sz="1650" b="0" dirty="0">
              <a:solidFill>
                <a:srgbClr val="FFFFFF"/>
              </a:solidFill>
              <a:latin typeface="Bitstream Charter"/>
              <a:ea typeface="Bitstream Charter"/>
              <a:cs typeface="Bitstream Charter"/>
            </a:endParaRPr>
          </a:p>
        </p:txBody>
      </p:sp>
      <p:sp>
        <p:nvSpPr>
          <p:cNvPr id="6" name="Rechteck 5">
            <a:extLst>
              <a:ext uri="{FF2B5EF4-FFF2-40B4-BE49-F238E27FC236}">
                <a16:creationId xmlns:a16="http://schemas.microsoft.com/office/drawing/2014/main" id="{132D0331-08D9-46C0-B35B-EFD95A797D43}"/>
              </a:ext>
            </a:extLst>
          </p:cNvPr>
          <p:cNvSpPr>
            <a:spLocks noGrp="1"/>
          </p:cNvSpPr>
          <p:nvPr/>
        </p:nvSpPr>
        <p:spPr>
          <a:xfrm>
            <a:off x="762000" y="4095750"/>
            <a:ext cx="2571750" cy="47625"/>
          </a:xfrm>
          <a:prstGeom prst="rect">
            <a:avLst/>
          </a:prstGeom>
          <a:solidFill>
            <a:srgbClr val="2CB1BC"/>
          </a:solidFill>
          <a:ln w="0">
            <a:noFill/>
          </a:ln>
        </p:spPr>
        <p:txBody>
          <a:bodyPr/>
          <a:lstStyle/>
          <a:p>
            <a:endParaRPr lang="de-CH"/>
          </a:p>
        </p:txBody>
      </p:sp>
      <p:sp>
        <p:nvSpPr>
          <p:cNvPr id="7" name="Rechteck 6">
            <a:extLst>
              <a:ext uri="{FF2B5EF4-FFF2-40B4-BE49-F238E27FC236}">
                <a16:creationId xmlns:a16="http://schemas.microsoft.com/office/drawing/2014/main" id="{648658A5-496B-4CBF-BEEC-3D45C7D54763}"/>
              </a:ext>
            </a:extLst>
          </p:cNvPr>
          <p:cNvSpPr>
            <a:spLocks noGrp="1"/>
          </p:cNvSpPr>
          <p:nvPr/>
        </p:nvSpPr>
        <p:spPr>
          <a:xfrm>
            <a:off x="762000" y="4429125"/>
            <a:ext cx="6191250" cy="1190625"/>
          </a:xfrm>
          <a:prstGeom prst="rect">
            <a:avLst/>
          </a:prstGeom>
          <a:noFill/>
          <a:ln w="0">
            <a:noFill/>
          </a:ln>
        </p:spPr>
        <p:txBody>
          <a:bodyPr anchor="ctr">
            <a:noAutofit/>
          </a:bodyPr>
          <a:lstStyle/>
          <a:p>
            <a:pPr algn="l">
              <a:defRPr sz="2025" b="0">
                <a:solidFill>
                  <a:srgbClr val="CFE8FF"/>
                </a:solidFill>
                <a:latin typeface="Bitstream Charter"/>
                <a:ea typeface="Bitstream Charter"/>
                <a:cs typeface="Bitstream Charter"/>
              </a:defRPr>
            </a:pPr>
            <a:r>
              <a:rPr sz="2025" b="0">
                <a:solidFill>
                  <a:srgbClr val="CFE8FF"/>
                </a:solidFill>
                <a:latin typeface="Bitstream Charter"/>
                <a:ea typeface="Bitstream Charter"/>
                <a:cs typeface="Bitstream Charter"/>
              </a:rPr>
              <a:t>Ein GO ist erst vertretbar, wenn keine offenen Defects mit hoher Severity mehr bestehen</a:t>
            </a:r>
          </a:p>
        </p:txBody>
      </p:sp>
      <p:sp>
        <p:nvSpPr>
          <p:cNvPr id="8" name="Rechteck 7">
            <a:extLst>
              <a:ext uri="{FF2B5EF4-FFF2-40B4-BE49-F238E27FC236}">
                <a16:creationId xmlns:a16="http://schemas.microsoft.com/office/drawing/2014/main" id="{5DBA4646-5AA3-4F56-A438-1D1BE158A06F}"/>
              </a:ext>
            </a:extLst>
          </p:cNvPr>
          <p:cNvSpPr>
            <a:spLocks noGrp="1"/>
          </p:cNvSpPr>
          <p:nvPr/>
        </p:nvSpPr>
        <p:spPr>
          <a:xfrm>
            <a:off x="762000" y="6000750"/>
            <a:ext cx="2857500" cy="428625"/>
          </a:xfrm>
          <a:prstGeom prst="rect">
            <a:avLst/>
          </a:prstGeom>
          <a:noFill/>
          <a:ln w="0">
            <a:noFill/>
          </a:ln>
        </p:spPr>
        <p:txBody>
          <a:bodyPr anchor="ctr">
            <a:noAutofit/>
          </a:bodyPr>
          <a:lstStyle/>
          <a:p>
            <a:pPr algn="l">
              <a:defRPr sz="1650" b="1">
                <a:solidFill>
                  <a:srgbClr val="FFFFFF"/>
                </a:solidFill>
                <a:latin typeface="Bitstream Charter"/>
                <a:ea typeface="Bitstream Charter"/>
                <a:cs typeface="Bitstream Charter"/>
              </a:defRPr>
            </a:pPr>
            <a:r>
              <a:rPr sz="1650" b="1">
                <a:solidFill>
                  <a:srgbClr val="FFFFFF"/>
                </a:solidFill>
                <a:latin typeface="Bitstream Charter"/>
                <a:ea typeface="Bitstream Charter"/>
                <a:cs typeface="Bitstream Charter"/>
              </a:rPr>
              <a:t>Danke</a:t>
            </a:r>
          </a:p>
        </p:txBody>
      </p:sp>
    </p:spTree>
    <p:extLst>
      <p:ext uri="{BB962C8B-B14F-4D97-AF65-F5344CB8AC3E}">
        <p14:creationId xmlns:p14="http://schemas.microsoft.com/office/powerpoint/2010/main" val="1083290537"/>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815</Words>
  <Application>Microsoft Office PowerPoint</Application>
  <DocSecurity>0</DocSecurity>
  <PresentationFormat>Breitbild</PresentationFormat>
  <Paragraphs>134</Paragraphs>
  <Slides>8</Slides>
  <Notes>8</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8</vt:i4>
      </vt:variant>
    </vt:vector>
  </HeadingPairs>
  <TitlesOfParts>
    <vt:vector size="13" baseType="lpstr">
      <vt:lpstr>Arial</vt:lpstr>
      <vt:lpstr>Bitstream Charter</vt:lpstr>
      <vt:lpstr>Calibri</vt:lpstr>
      <vt:lpstr>DejaVu Sans Mono</vt:lpstr>
      <vt:lpstr>ChatGPT</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Vasic Sladjan</cp:lastModifiedBy>
  <cp:revision>2</cp:revision>
  <dcterms:created xsi:type="dcterms:W3CDTF">2026-09-16T12:34:03Z</dcterms:created>
  <dcterms:modified xsi:type="dcterms:W3CDTF">2026-09-18T14:26:58Z</dcterms:modified>
</cp:coreProperties>
</file>