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f6efe8e1e814f41" /><Relationship Type="http://schemas.openxmlformats.org/officeDocument/2006/relationships/extended-properties" Target="/docProps/app.xml" Id="R45ff282a7d0e4e98" /><Relationship Type="http://schemas.openxmlformats.org/officeDocument/2006/relationships/officeDocument" Target="/ppt/presentation.xml" Id="Rd8226eb6a5f5471e" /></Relationships>
</file>

<file path=ppt/presentation.xml><?xml version="1.0" encoding="utf-8"?>
<p:presentation xmlns:p="http://schemas.openxmlformats.org/presentationml/2006/main">
  <p:sldMasterIdLst>
    <p:sldMasterId xmlns:r="http://schemas.openxmlformats.org/officeDocument/2006/relationships" id="2147483648" r:id="R027368aa924d4e23"/>
  </p:sldMasterIdLst>
  <p:notesMasterIdLst>
    <p:notesMasterId xmlns:r="http://schemas.openxmlformats.org/officeDocument/2006/relationships" r:id="R3e2484e943af43b7"/>
  </p:notesMasterIdLst>
  <p:sldIdLst>
    <p:sldId xmlns:r="http://schemas.openxmlformats.org/officeDocument/2006/relationships" id="256" r:id="R182cea90b8c04e38"/>
    <p:sldId xmlns:r="http://schemas.openxmlformats.org/officeDocument/2006/relationships" id="257" r:id="Ra6cca2775da54076"/>
    <p:sldId xmlns:r="http://schemas.openxmlformats.org/officeDocument/2006/relationships" id="258" r:id="Rc87d10342e474582"/>
    <p:sldId xmlns:r="http://schemas.openxmlformats.org/officeDocument/2006/relationships" id="259" r:id="Rbfe595ec571c4117"/>
    <p:sldId xmlns:r="http://schemas.openxmlformats.org/officeDocument/2006/relationships" id="260" r:id="R01da79d7c36a4c6f"/>
    <p:sldId xmlns:r="http://schemas.openxmlformats.org/officeDocument/2006/relationships" id="261" r:id="R360ec25e9b284f2c"/>
    <p:sldId xmlns:r="http://schemas.openxmlformats.org/officeDocument/2006/relationships" id="262" r:id="R99fb6c3764ba42a7"/>
    <p:sldId xmlns:r="http://schemas.openxmlformats.org/officeDocument/2006/relationships" id="263" r:id="R2474333752d949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0ff39b456d4f69" /><Relationship Type="http://schemas.openxmlformats.org/officeDocument/2006/relationships/slideMaster" Target="/ppt/slideMasters/slideMaster1.xml" Id="R027368aa924d4e23" /><Relationship Type="http://schemas.openxmlformats.org/officeDocument/2006/relationships/notesMaster" Target="/ppt/notesMasters/notesMaster1.xml" Id="R3e2484e943af43b7" /><Relationship Type="http://schemas.openxmlformats.org/officeDocument/2006/relationships/presProps" Target="/ppt/presProps.xml" Id="Rc19be4d07fe34f13" /><Relationship Type="http://schemas.openxmlformats.org/officeDocument/2006/relationships/tableStyles" Target="/ppt/tableStyles.xml" Id="R1839a16aa2874ea6" /><Relationship Type="http://schemas.openxmlformats.org/officeDocument/2006/relationships/slide" Target="/ppt/slides/slide1.xml" Id="R182cea90b8c04e38" /><Relationship Type="http://schemas.openxmlformats.org/officeDocument/2006/relationships/slide" Target="/ppt/slides/slide2.xml" Id="Ra6cca2775da54076" /><Relationship Type="http://schemas.openxmlformats.org/officeDocument/2006/relationships/slide" Target="/ppt/slides/slide3.xml" Id="Rc87d10342e474582" /><Relationship Type="http://schemas.openxmlformats.org/officeDocument/2006/relationships/slide" Target="/ppt/slides/slide4.xml" Id="Rbfe595ec571c4117" /><Relationship Type="http://schemas.openxmlformats.org/officeDocument/2006/relationships/slide" Target="/ppt/slides/slide5.xml" Id="R01da79d7c36a4c6f" /><Relationship Type="http://schemas.openxmlformats.org/officeDocument/2006/relationships/slide" Target="/ppt/slides/slide6.xml" Id="R360ec25e9b284f2c" /><Relationship Type="http://schemas.openxmlformats.org/officeDocument/2006/relationships/slide" Target="/ppt/slides/slide7.xml" Id="R99fb6c3764ba42a7" /><Relationship Type="http://schemas.openxmlformats.org/officeDocument/2006/relationships/slide" Target="/ppt/slides/slide8.xml" Id="R2474333752d949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edfa2e798344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79a7783af1482d" /><Relationship Type="http://schemas.openxmlformats.org/officeDocument/2006/relationships/notesMaster" Target="/ppt/notesMasters/notesMaster1.xml" Id="R7cdb95c1e7a24c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6bfab2b01c4c3c" /><Relationship Type="http://schemas.openxmlformats.org/officeDocument/2006/relationships/notesMaster" Target="/ppt/notesMasters/notesMaster1.xml" Id="Raba4095ab34543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0520778eae4f2d" /><Relationship Type="http://schemas.openxmlformats.org/officeDocument/2006/relationships/notesMaster" Target="/ppt/notesMasters/notesMaster1.xml" Id="R740302bb18dd47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530db895684f2a" /><Relationship Type="http://schemas.openxmlformats.org/officeDocument/2006/relationships/notesMaster" Target="/ppt/notesMasters/notesMaster1.xml" Id="Rec50afa5840847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08c686a4c942f2" /><Relationship Type="http://schemas.openxmlformats.org/officeDocument/2006/relationships/notesMaster" Target="/ppt/notesMasters/notesMaster1.xml" Id="R97e6de9dc6734e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989c9fe0b34f87" /><Relationship Type="http://schemas.openxmlformats.org/officeDocument/2006/relationships/notesMaster" Target="/ppt/notesMasters/notesMaster1.xml" Id="R137362332ae044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abe403812d4bec" /><Relationship Type="http://schemas.openxmlformats.org/officeDocument/2006/relationships/notesMaster" Target="/ppt/notesMasters/notesMaster1.xml" Id="R52452aa05caa42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ae9a90baa64ed2" /><Relationship Type="http://schemas.openxmlformats.org/officeDocument/2006/relationships/notesMaster" Target="/ppt/notesMasters/notesMaster1.xml" Id="Rd28d44f8c35349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ca. 25 Sekunden</a:t>
            </a:r>
          </a:p>
          <a:p xmlns:a="http://schemas.openxmlformats.org/drawingml/2006/main">
            <a:r>
              <a:t/>
            </a:r>
          </a:p>
          <a:p xmlns:a="http://schemas.openxmlformats.org/drawingml/2006/main">
            <a:r>
              <a:t>Ich zeige heute, wie ich den Release Candidate TaskFlow geprüft habe. Im Mittelpunkt stehen die wichtigsten Risiken, die gefundenen Defects, die Korrektur von DEF-02 und meine abschliessende Release-Entscheidung.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ca. 45 Sekunden</a:t>
            </a:r>
          </a:p>
          <a:p xmlns:a="http://schemas.openxmlformats.org/drawingml/2006/main">
            <a:r>
              <a:t/>
            </a:r>
          </a:p>
          <a:p xmlns:a="http://schemas.openxmlformats.org/drawingml/2006/main">
            <a:r>
              <a:t>Das Testobjekt ist die REST-API TaskFlow. Ich habe Login, Taskzugriff, Taskbearbeitung und Validierung geprüft. Das wichtigste Ergebnis vorweg: Der Release erhält ein NO-GO. Zwei offene Sicherheitsdefects besitzen eine hohe Severity und blockieren die Produktivsetzung.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ca. 55 Sekunden</a:t>
            </a:r>
          </a:p>
          <a:p xmlns:a="http://schemas.openxmlformats.org/drawingml/2006/main">
            <a:r>
              <a:t/>
            </a:r>
          </a:p>
          <a:p xmlns:a="http://schemas.openxmlformats.org/drawingml/2006/main">
            <a:r>
              <a:t>Ich habe risikobasiert gearbeitet. Wahrscheinlichkeit und Auswirkung wurden jeweils von eins bis drei bewertet. Vier Risiken erreichten den Höchstwert neun. Deshalb habe ich Security und Berechtigungen zuerst geprüft. Lasttests, produktive Infrastruktur und langfristige Persistenz lagen ausserhalb des Testumfangs.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ca. 55 Sekunden</a:t>
            </a:r>
          </a:p>
          <a:p xmlns:a="http://schemas.openxmlformats.org/drawingml/2006/main">
            <a:r>
              <a:t/>
            </a:r>
          </a:p>
          <a:p xmlns:a="http://schemas.openxmlformats.org/drawingml/2006/main">
            <a:r>
              <a:t>Ich habe 16 wiederholbare Testfälle definiert. Sieben neue Tests erweitern die vorhandene Testsuite. Dazu kommen zehn dokumentierte Postman-Szenarien. Nach dem Fix bestanden sieben von elf automatisierten Tests. Vier Tests schlagen weiterhin fehl und belegen die offenen Defects.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ca. 70 Sekunden</a:t>
            </a:r>
          </a:p>
          <a:p xmlns:a="http://schemas.openxmlformats.org/drawingml/2006/main">
            <a:r>
              <a:t/>
            </a:r>
          </a:p>
          <a:p xmlns:a="http://schemas.openxmlformats.org/drawingml/2006/main">
            <a:r>
              <a:t>Die wichtigsten offenen Defects sind DEF-01 und DEF-05. Links sieht man, dass Alice beide Tasks erhält, obwohl t2 Bob gehört. Rechts führt ungültiges JSON zu HTTP 500. Die Antwort enthält einen Stacktrace und lokale Dateipfade. Beide Defects besitzen hohe Severity und sind release-blockierend.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ca. 60 Sekunden</a:t>
            </a:r>
          </a:p>
          <a:p xmlns:a="http://schemas.openxmlformats.org/drawingml/2006/main">
            <a:r>
              <a:t/>
            </a:r>
          </a:p>
          <a:p xmlns:a="http://schemas.openxmlformats.org/drawingml/2006/main">
            <a:r>
              <a:t>Ich habe DEF-02 korrigiert. Vorher reichte es, dass irgendein Benutzer angemeldet war. Danach prüft die Funktion, ob der Benutzer Administrator oder Eigentümer des Tasks ist. Der Retest bestätigt HTTP 403 für Bob. Der Regressionstest bestätigt, dass Alice ihren eigenen Task weiterhin bearbeiten kann.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ca. 55 Sekunden</a:t>
            </a:r>
          </a:p>
          <a:p xmlns:a="http://schemas.openxmlformats.org/drawingml/2006/main">
            <a:r>
              <a:t/>
            </a:r>
          </a:p>
          <a:p xmlns:a="http://schemas.openxmlformats.org/drawingml/2006/main">
            <a:r>
              <a:t>In der Live-Demo starte ich zuerst npm test. Dabei zeige ich, dass der Test für DEF-02 und der Regressionstest bestehen. Danach sende ich als Bob einen PATCH-Request auf Alices Task. Die API antwortet mit HTTP 403 und verändert den Task nicht.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ca. 45 Sekunden</a:t>
            </a:r>
          </a:p>
          <a:p xmlns:a="http://schemas.openxmlformats.org/drawingml/2006/main">
            <a:r>
              <a:t/>
            </a:r>
          </a:p>
          <a:p xmlns:a="http://schemas.openxmlformats.org/drawingml/2006/main">
            <a:r>
              <a:t>Meine Entscheidung lautet NO-GO. DEF-01 verletzt die Vertraulichkeit und DEF-05 legt interne Informationen offen. Vor einem neuen Release-Entscheid müssen die offenen Defects korrigiert, gezielt retestet und mit einer vollständigen Regression abgesichert werden.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36022dfbd347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f593c2a5e741a2" /><Relationship Type="http://schemas.openxmlformats.org/officeDocument/2006/relationships/slideLayout" Target="/ppt/slideLayouts/slideLayout1.xml" Id="R4499537c32ff4a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99537c32ff4a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c886fb247f443e" /><Relationship Type="http://schemas.openxmlformats.org/officeDocument/2006/relationships/notesSlide" Target="/ppt/notesSlides/notesSlide1.xml" Id="R3c82a81fd6fd45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9c8a6b34ad4986" /><Relationship Type="http://schemas.openxmlformats.org/officeDocument/2006/relationships/notesSlide" Target="/ppt/notesSlides/notesSlide2.xml" Id="Rbd3e0a05126448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f7a709eab34c37" /><Relationship Type="http://schemas.openxmlformats.org/officeDocument/2006/relationships/notesSlide" Target="/ppt/notesSlides/notesSlide3.xml" Id="R9e10202824dc47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5add5a97884a1c" /><Relationship Type="http://schemas.openxmlformats.org/officeDocument/2006/relationships/chart" Target="/ppt/slides/charts/chart1.xml" Id="Rcd0c4612021745d2" /><Relationship Type="http://schemas.openxmlformats.org/officeDocument/2006/relationships/notesSlide" Target="/ppt/notesSlides/notesSlide4.xml" Id="R760288dbde3a4e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9b088e2d9a4a8c" /><Relationship Type="http://schemas.openxmlformats.org/officeDocument/2006/relationships/image" Target="/ppt/media/image.png" Id="R7690ff25160a4859" /><Relationship Type="http://schemas.openxmlformats.org/officeDocument/2006/relationships/image" Target="/ppt/media/image2.png" Id="Rfaf128700baa41b0" /><Relationship Type="http://schemas.openxmlformats.org/officeDocument/2006/relationships/notesSlide" Target="/ppt/notesSlides/notesSlide5.xml" Id="Rf21f4b3fe7da4c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e948908f6d4414" /><Relationship Type="http://schemas.openxmlformats.org/officeDocument/2006/relationships/notesSlide" Target="/ppt/notesSlides/notesSlide6.xml" Id="Ra8c50843d8e749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5fe41591c14fae" /><Relationship Type="http://schemas.openxmlformats.org/officeDocument/2006/relationships/image" Target="/ppt/media/image3.png" Id="R166cafe267334d7e" /><Relationship Type="http://schemas.openxmlformats.org/officeDocument/2006/relationships/notesSlide" Target="/ppt/notesSlides/notesSlide7.xml" Id="Rbb98a73ba17640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b6be10a9514e7c" /><Relationship Type="http://schemas.openxmlformats.org/officeDocument/2006/relationships/notesSlide" Target="/ppt/notesSlides/notesSlide8.xml" Id="Rdeef7d9a96dc48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Automatisierte Tests</c:v>
          </c:tx>
          <c:dPt>
            <c:idx val="0"/>
            <c:spPr>
              <a:solidFill xmlns:a="http://schemas.openxmlformats.org/drawingml/2006/main">
                <a:srgbClr val="1F7A4D"/>
              </a:solidFill>
            </c:spPr>
          </c:dPt>
          <c:dPt>
            <c:idx val="1"/>
            <c:spPr>
              <a:solidFill xmlns:a="http://schemas.openxmlformats.org/drawingml/2006/main">
                <a:srgbClr val="C53B3B"/>
              </a:solidFill>
            </c:spPr>
          </c:dPt>
          <c:cat>
            <c:strRef>
              <c:f>'Chart Data'!$A$2:$A$3</c:f>
              <c:strCache>
                <c:ptCount val="2"/>
                <c:pt idx="0">
                  <c:v>PASS</c:v>
                </c:pt>
                <c:pt idx="1">
                  <c:v>FAIL</c:v>
                </c:pt>
              </c:strCache>
            </c:strRef>
          </c:cat>
          <c:val>
            <c:numRef>
              <c:f>'Chart Data'!$B$2:$B$3</c:f>
              <c:numCache>
                <c:formatCode>General</c:formatCode>
                <c:ptCount val="2"/>
                <c:pt idx="0">
                  <c:v>7</c:v>
                </c:pt>
                <c:pt idx="1">
                  <c:v>4</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FFFFFF"/>
                  </a:solidFill>
                  <a:latin typeface="Bitstream Charter"/>
                  <a:ea typeface="Bitstream Charter"/>
                  <a:cs typeface="Bitstream Charter"/>
                </a:defRPr>
              </a:pPr>
            </a:p>
          </c:txPr>
          <c:showLegendKey val="0"/>
          <c:showVal val="1"/>
          <c:showCatName val="0"/>
          <c:showSerName val="0"/>
          <c:showPercent val="0"/>
          <c:showBubbleSize val="0"/>
          <c:showLeaderLines val="0"/>
        </c:dLbls>
        <c:holeSize val="62"/>
      </c:doughnutChart>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72B4D"/>
              </a:solidFill>
              <a:latin typeface="Bitstream Charter"/>
              <a:ea typeface="Bitstream Charter"/>
              <a:cs typeface="Bitstream Charter"/>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39AAAA-82FF-45FA-8EAA-34DDF2058A05}"/>
              </a:ext>
            </a:extLst>
          </p:cNvPr>
          <p:cNvSpPr>
            <a:spLocks xmlns:a="http://schemas.openxmlformats.org/drawingml/2006/main" noGrp="1"/>
          </p:cNvSpPr>
          <p:nvPr/>
        </p:nvSpPr>
        <p:spPr>
          <a:xfrm xmlns:a="http://schemas.openxmlformats.org/drawingml/2006/main">
            <a:off x="800100" y="1571625"/>
            <a:ext cx="1009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FFFFFF"/>
                </a:solidFill>
                <a:latin typeface="Bitstream Charter"/>
                <a:ea typeface="Bitstream Charter"/>
                <a:cs typeface="Bitstream Charter"/>
              </a:defRPr>
            </a:pPr>
            <a:r>
              <a:rPr sz="3900" b="1">
                <a:solidFill>
                  <a:srgbClr val="FFFFFF"/>
                </a:solidFill>
                <a:latin typeface="Bitstream Charter"/>
                <a:ea typeface="Bitstream Charter"/>
                <a:cs typeface="Bitstream Charter"/>
              </a:rPr>
              <a:t>TaskFlow Release Candidate</a:t>
            </a:r>
          </a:p>
        </p:txBody>
      </p:sp>
      <p:sp>
        <p:nvSpPr>
          <p:cNvPr id="2" name="">
            <a:extLst xmlns:a="http://schemas.openxmlformats.org/drawingml/2006/main">
              <a:ext uri="{FF2B5EF4-FFF2-40B4-BE49-F238E27FC236}">
                <a16:creationId xmlns:a16="http://schemas.microsoft.com/office/drawing/2014/main" id="{ECFDCEC2-A6A0-4FA1-AE7B-E5CBF37E9682}"/>
              </a:ext>
            </a:extLst>
          </p:cNvPr>
          <p:cNvSpPr>
            <a:spLocks xmlns:a="http://schemas.openxmlformats.org/drawingml/2006/main" noGrp="1"/>
          </p:cNvSpPr>
          <p:nvPr/>
        </p:nvSpPr>
        <p:spPr>
          <a:xfrm xmlns:a="http://schemas.openxmlformats.org/drawingml/2006/main">
            <a:off x="838200" y="24574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CFE8FF"/>
                </a:solidFill>
                <a:latin typeface="Bitstream Charter"/>
                <a:ea typeface="Bitstream Charter"/>
                <a:cs typeface="Bitstream Charter"/>
              </a:defRPr>
            </a:pPr>
            <a:r>
              <a:rPr sz="2025" b="0">
                <a:solidFill>
                  <a:srgbClr val="CFE8FF"/>
                </a:solidFill>
                <a:latin typeface="Bitstream Charter"/>
                <a:ea typeface="Bitstream Charter"/>
                <a:cs typeface="Bitstream Charter"/>
              </a:rPr>
              <a:t>Risikobasierte Prüfung und NO-GO-Entscheidung</a:t>
            </a:r>
          </a:p>
        </p:txBody>
      </p:sp>
      <p:sp>
        <p:nvSpPr>
          <p:cNvPr id="3" name="">
            <a:extLst xmlns:a="http://schemas.openxmlformats.org/drawingml/2006/main">
              <a:ext uri="{FF2B5EF4-FFF2-40B4-BE49-F238E27FC236}">
                <a16:creationId xmlns:a16="http://schemas.microsoft.com/office/drawing/2014/main" id="{D9C91BA8-36ED-453B-8623-59FD5FE23843}"/>
              </a:ext>
            </a:extLst>
          </p:cNvPr>
          <p:cNvSpPr>
            <a:spLocks xmlns:a="http://schemas.openxmlformats.org/drawingml/2006/main" noGrp="1"/>
          </p:cNvSpPr>
          <p:nvPr/>
        </p:nvSpPr>
        <p:spPr>
          <a:xfrm xmlns:a="http://schemas.openxmlformats.org/drawingml/2006/main">
            <a:off x="838200" y="3181350"/>
            <a:ext cx="2857500" cy="47625"/>
          </a:xfrm>
          <a:prstGeom xmlns:a="http://schemas.openxmlformats.org/drawingml/2006/main" prst="rect">
            <a:avLst/>
          </a:prstGeom>
          <a:solidFill xmlns:a="http://schemas.openxmlformats.org/drawingml/2006/main">
            <a:srgbClr val="2CB1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3CECFB-384A-48E2-AB8F-18448181FF6C}"/>
              </a:ext>
            </a:extLst>
          </p:cNvPr>
          <p:cNvSpPr>
            <a:spLocks xmlns:a="http://schemas.openxmlformats.org/drawingml/2006/main" noGrp="1"/>
          </p:cNvSpPr>
          <p:nvPr/>
        </p:nvSpPr>
        <p:spPr>
          <a:xfrm xmlns:a="http://schemas.openxmlformats.org/drawingml/2006/main">
            <a:off x="838200" y="3638550"/>
            <a:ext cx="5524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FFFFFF"/>
                </a:solidFill>
                <a:latin typeface="Bitstream Charter"/>
                <a:ea typeface="Bitstream Charter"/>
                <a:cs typeface="Bitstream Charter"/>
              </a:defRPr>
            </a:pPr>
            <a:r>
              <a:rPr sz="1650" b="0">
                <a:solidFill>
                  <a:srgbClr val="FFFFFF"/>
                </a:solidFill>
                <a:latin typeface="Bitstream Charter"/>
                <a:ea typeface="Bitstream Charter"/>
                <a:cs typeface="Bitstream Charter"/>
              </a:rPr>
              <a:t>Modul 450 LB-02</a:t>
            </a:r>
          </a:p>
          <a:p xmlns:a="http://schemas.openxmlformats.org/drawingml/2006/main">
            <a:pPr algn="l">
              <a:defRPr sz="1650" b="0">
                <a:solidFill>
                  <a:srgbClr val="FFFFFF"/>
                </a:solidFill>
                <a:latin typeface="Bitstream Charter"/>
                <a:ea typeface="Bitstream Charter"/>
                <a:cs typeface="Bitstream Charter"/>
              </a:defRPr>
            </a:pPr>
            <a:r>
              <a:rPr sz="1650" b="0">
                <a:solidFill>
                  <a:srgbClr val="FFFFFF"/>
                </a:solidFill>
                <a:latin typeface="Bitstream Charter"/>
                <a:ea typeface="Bitstream Charter"/>
                <a:cs typeface="Bitstream Charter"/>
              </a:rPr>
              <a:t>Sladjan Vasic</a:t>
            </a:r>
          </a:p>
          <a:p xmlns:a="http://schemas.openxmlformats.org/drawingml/2006/main">
            <a:pPr algn="l">
              <a:defRPr sz="1650" b="0">
                <a:solidFill>
                  <a:srgbClr val="FFFFFF"/>
                </a:solidFill>
                <a:latin typeface="Bitstream Charter"/>
                <a:ea typeface="Bitstream Charter"/>
                <a:cs typeface="Bitstream Charter"/>
              </a:defRPr>
            </a:pPr>
            <a:r>
              <a:rPr sz="1650" b="0">
                <a:solidFill>
                  <a:srgbClr val="FFFFFF"/>
                </a:solidFill>
                <a:latin typeface="Bitstream Charter"/>
                <a:ea typeface="Bitstream Charter"/>
                <a:cs typeface="Bitstream Charter"/>
              </a:rPr>
              <a:t>TaskFlow 1.4.0-rc1</a:t>
            </a:r>
          </a:p>
        </p:txBody>
      </p:sp>
      <p:sp>
        <p:nvSpPr>
          <p:cNvPr id="5" name="">
            <a:extLst xmlns:a="http://schemas.openxmlformats.org/drawingml/2006/main">
              <a:ext uri="{FF2B5EF4-FFF2-40B4-BE49-F238E27FC236}">
                <a16:creationId xmlns:a16="http://schemas.microsoft.com/office/drawing/2014/main" id="{7A2EDD17-9887-4E26-9F7C-B9D6EDA8BC20}"/>
              </a:ext>
            </a:extLst>
          </p:cNvPr>
          <p:cNvSpPr>
            <a:spLocks xmlns:a="http://schemas.openxmlformats.org/drawingml/2006/main" noGrp="1"/>
          </p:cNvSpPr>
          <p:nvPr/>
        </p:nvSpPr>
        <p:spPr>
          <a:xfrm xmlns:a="http://schemas.openxmlformats.org/drawingml/2006/main">
            <a:off x="9048750" y="56197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CFE8FF"/>
                </a:solidFill>
                <a:latin typeface="Bitstream Charter"/>
                <a:ea typeface="Bitstream Charter"/>
                <a:cs typeface="Bitstream Charter"/>
              </a:defRPr>
            </a:pPr>
            <a:r>
              <a:rPr sz="1500" b="1">
                <a:solidFill>
                  <a:srgbClr val="CFE8FF"/>
                </a:solidFill>
                <a:latin typeface="Bitstream Charter"/>
                <a:ea typeface="Bitstream Charter"/>
                <a:cs typeface="Bitstream Charter"/>
              </a:rPr>
              <a:t>7 Minuten</a:t>
            </a:r>
          </a:p>
        </p:txBody>
      </p:sp>
    </p:spTree>
    <p:extLst>
      <p:ext uri="{BB962C8B-B14F-4D97-AF65-F5344CB8AC3E}">
        <p14:creationId xmlns:p14="http://schemas.microsoft.com/office/powerpoint/2010/main" val="21062288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91110D-90E8-4C85-B4CF-C3F6F641B36A}"/>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02A43"/>
                </a:solidFill>
                <a:latin typeface="Bitstream Charter"/>
                <a:ea typeface="Bitstream Charter"/>
                <a:cs typeface="Bitstream Charter"/>
              </a:defRPr>
            </a:pPr>
            <a:r>
              <a:rPr sz="2700" b="1">
                <a:solidFill>
                  <a:srgbClr val="102A43"/>
                </a:solidFill>
                <a:latin typeface="Bitstream Charter"/>
                <a:ea typeface="Bitstream Charter"/>
                <a:cs typeface="Bitstream Charter"/>
              </a:rPr>
              <a:t>Auftrag und Ergebnis</a:t>
            </a:r>
          </a:p>
        </p:txBody>
      </p:sp>
      <p:sp>
        <p:nvSpPr>
          <p:cNvPr id="2" name="">
            <a:extLst xmlns:a="http://schemas.openxmlformats.org/drawingml/2006/main">
              <a:ext uri="{FF2B5EF4-FFF2-40B4-BE49-F238E27FC236}">
                <a16:creationId xmlns:a16="http://schemas.microsoft.com/office/drawing/2014/main" id="{7C377DD8-567A-4819-9D5A-BEF885E5C39D}"/>
              </a:ext>
            </a:extLst>
          </p:cNvPr>
          <p:cNvSpPr>
            <a:spLocks xmlns:a="http://schemas.openxmlformats.org/drawingml/2006/main" noGrp="1"/>
          </p:cNvSpPr>
          <p:nvPr/>
        </p:nvSpPr>
        <p:spPr>
          <a:xfrm xmlns:a="http://schemas.openxmlformats.org/drawingml/2006/main">
            <a:off x="685800" y="9620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67A"/>
                </a:solidFill>
                <a:latin typeface="Bitstream Charter"/>
                <a:ea typeface="Bitstream Charter"/>
                <a:cs typeface="Bitstream Charter"/>
              </a:defRPr>
            </a:pPr>
            <a:r>
              <a:rPr sz="1350" b="0">
                <a:solidFill>
                  <a:srgbClr val="52667A"/>
                </a:solidFill>
                <a:latin typeface="Bitstream Charter"/>
                <a:ea typeface="Bitstream Charter"/>
                <a:cs typeface="Bitstream Charter"/>
              </a:rPr>
              <a:t>Prüfung einer REST-API vor der Produktivsetzung</a:t>
            </a:r>
          </a:p>
        </p:txBody>
      </p:sp>
      <p:sp>
        <p:nvSpPr>
          <p:cNvPr id="3" name="">
            <a:extLst xmlns:a="http://schemas.openxmlformats.org/drawingml/2006/main">
              <a:ext uri="{FF2B5EF4-FFF2-40B4-BE49-F238E27FC236}">
                <a16:creationId xmlns:a16="http://schemas.microsoft.com/office/drawing/2014/main" id="{96BACF05-8381-4893-8893-8E761BAFCD51}"/>
              </a:ext>
            </a:extLst>
          </p:cNvPr>
          <p:cNvSpPr>
            <a:spLocks xmlns:a="http://schemas.openxmlformats.org/drawingml/2006/main" noGrp="1"/>
          </p:cNvSpPr>
          <p:nvPr/>
        </p:nvSpPr>
        <p:spPr>
          <a:xfrm xmlns:a="http://schemas.openxmlformats.org/drawingml/2006/main">
            <a:off x="685800" y="1381125"/>
            <a:ext cx="1809750" cy="47625"/>
          </a:xfrm>
          <a:prstGeom xmlns:a="http://schemas.openxmlformats.org/drawingml/2006/main" prst="rect">
            <a:avLst/>
          </a:prstGeom>
          <a:solidFill xmlns:a="http://schemas.openxmlformats.org/drawingml/2006/main">
            <a:srgbClr val="2364A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8D1F34-BD5D-4774-9C10-051DD0A53D6E}"/>
              </a:ext>
            </a:extLst>
          </p:cNvPr>
          <p:cNvSpPr>
            <a:spLocks xmlns:a="http://schemas.openxmlformats.org/drawingml/2006/main" noGrp="1"/>
          </p:cNvSpPr>
          <p:nvPr/>
        </p:nvSpPr>
        <p:spPr>
          <a:xfrm xmlns:a="http://schemas.openxmlformats.org/drawingml/2006/main">
            <a:off x="857250" y="17907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364AA"/>
                </a:solidFill>
                <a:latin typeface="Bitstream Charter"/>
                <a:ea typeface="Bitstream Charter"/>
                <a:cs typeface="Bitstream Charter"/>
              </a:defRPr>
            </a:pPr>
            <a:r>
              <a:rPr sz="1725" b="1">
                <a:solidFill>
                  <a:srgbClr val="2364AA"/>
                </a:solidFill>
                <a:latin typeface="Bitstream Charter"/>
                <a:ea typeface="Bitstream Charter"/>
                <a:cs typeface="Bitstream Charter"/>
              </a:rPr>
              <a:t>Testobjekt</a:t>
            </a:r>
          </a:p>
        </p:txBody>
      </p:sp>
      <p:sp>
        <p:nvSpPr>
          <p:cNvPr id="5" name="">
            <a:extLst xmlns:a="http://schemas.openxmlformats.org/drawingml/2006/main">
              <a:ext uri="{FF2B5EF4-FFF2-40B4-BE49-F238E27FC236}">
                <a16:creationId xmlns:a16="http://schemas.microsoft.com/office/drawing/2014/main" id="{918E9F82-C92D-42BD-9CAB-4B6EED909BBC}"/>
              </a:ext>
            </a:extLst>
          </p:cNvPr>
          <p:cNvSpPr>
            <a:spLocks xmlns:a="http://schemas.openxmlformats.org/drawingml/2006/main" noGrp="1"/>
          </p:cNvSpPr>
          <p:nvPr/>
        </p:nvSpPr>
        <p:spPr>
          <a:xfrm xmlns:a="http://schemas.openxmlformats.org/drawingml/2006/main">
            <a:off x="857250" y="22098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B4D"/>
                </a:solidFill>
                <a:latin typeface="Bitstream Charter"/>
                <a:ea typeface="Bitstream Charter"/>
                <a:cs typeface="Bitstream Charter"/>
              </a:defRPr>
            </a:pPr>
            <a:r>
              <a:rPr sz="1800" b="0">
                <a:solidFill>
                  <a:srgbClr val="172B4D"/>
                </a:solidFill>
                <a:latin typeface="Bitstream Charter"/>
                <a:ea typeface="Bitstream Charter"/>
                <a:cs typeface="Bitstream Charter"/>
              </a:rPr>
              <a:t>Login sowie Anzeigen, Erstellen und Bearbeiten von Tasks</a:t>
            </a:r>
          </a:p>
        </p:txBody>
      </p:sp>
      <p:sp>
        <p:nvSpPr>
          <p:cNvPr id="6" name="">
            <a:extLst xmlns:a="http://schemas.openxmlformats.org/drawingml/2006/main">
              <a:ext uri="{FF2B5EF4-FFF2-40B4-BE49-F238E27FC236}">
                <a16:creationId xmlns:a16="http://schemas.microsoft.com/office/drawing/2014/main" id="{FC047039-7020-4BD8-ACBF-2050910B85EE}"/>
              </a:ext>
            </a:extLst>
          </p:cNvPr>
          <p:cNvSpPr>
            <a:spLocks xmlns:a="http://schemas.openxmlformats.org/drawingml/2006/main" noGrp="1"/>
          </p:cNvSpPr>
          <p:nvPr/>
        </p:nvSpPr>
        <p:spPr>
          <a:xfrm xmlns:a="http://schemas.openxmlformats.org/drawingml/2006/main">
            <a:off x="857250" y="34766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364AA"/>
                </a:solidFill>
                <a:latin typeface="Bitstream Charter"/>
                <a:ea typeface="Bitstream Charter"/>
                <a:cs typeface="Bitstream Charter"/>
              </a:defRPr>
            </a:pPr>
            <a:r>
              <a:rPr sz="1725" b="1">
                <a:solidFill>
                  <a:srgbClr val="2364AA"/>
                </a:solidFill>
                <a:latin typeface="Bitstream Charter"/>
                <a:ea typeface="Bitstream Charter"/>
                <a:cs typeface="Bitstream Charter"/>
              </a:rPr>
              <a:t>Prüfschwerpunkte</a:t>
            </a:r>
          </a:p>
        </p:txBody>
      </p:sp>
      <p:sp>
        <p:nvSpPr>
          <p:cNvPr id="7" name="">
            <a:extLst xmlns:a="http://schemas.openxmlformats.org/drawingml/2006/main">
              <a:ext uri="{FF2B5EF4-FFF2-40B4-BE49-F238E27FC236}">
                <a16:creationId xmlns:a16="http://schemas.microsoft.com/office/drawing/2014/main" id="{20B902D2-9281-46C8-B42B-7B264574714E}"/>
              </a:ext>
            </a:extLst>
          </p:cNvPr>
          <p:cNvSpPr>
            <a:spLocks xmlns:a="http://schemas.openxmlformats.org/drawingml/2006/main" noGrp="1"/>
          </p:cNvSpPr>
          <p:nvPr/>
        </p:nvSpPr>
        <p:spPr>
          <a:xfrm xmlns:a="http://schemas.openxmlformats.org/drawingml/2006/main">
            <a:off x="857250" y="390525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B4D"/>
                </a:solidFill>
                <a:latin typeface="Bitstream Charter"/>
                <a:ea typeface="Bitstream Charter"/>
                <a:cs typeface="Bitstream Charter"/>
              </a:defRPr>
            </a:pPr>
            <a:r>
              <a:rPr sz="1725" b="0">
                <a:solidFill>
                  <a:srgbClr val="172B4D"/>
                </a:solidFill>
                <a:latin typeface="Bitstream Charter"/>
                <a:ea typeface="Bitstream Charter"/>
                <a:cs typeface="Bitstream Charter"/>
              </a:rPr>
              <a:t>Authentifizierung</a:t>
            </a:r>
          </a:p>
          <a:p xmlns:a="http://schemas.openxmlformats.org/drawingml/2006/main">
            <a:pPr algn="l">
              <a:defRPr sz="1725" b="0">
                <a:solidFill>
                  <a:srgbClr val="172B4D"/>
                </a:solidFill>
                <a:latin typeface="Bitstream Charter"/>
                <a:ea typeface="Bitstream Charter"/>
                <a:cs typeface="Bitstream Charter"/>
              </a:defRPr>
            </a:pPr>
            <a:r>
              <a:rPr sz="1725" b="0">
                <a:solidFill>
                  <a:srgbClr val="172B4D"/>
                </a:solidFill>
                <a:latin typeface="Bitstream Charter"/>
                <a:ea typeface="Bitstream Charter"/>
                <a:cs typeface="Bitstream Charter"/>
              </a:rPr>
              <a:t>Autorisierung</a:t>
            </a:r>
          </a:p>
          <a:p xmlns:a="http://schemas.openxmlformats.org/drawingml/2006/main">
            <a:pPr algn="l">
              <a:defRPr sz="1725" b="0">
                <a:solidFill>
                  <a:srgbClr val="172B4D"/>
                </a:solidFill>
                <a:latin typeface="Bitstream Charter"/>
                <a:ea typeface="Bitstream Charter"/>
                <a:cs typeface="Bitstream Charter"/>
              </a:defRPr>
            </a:pPr>
            <a:r>
              <a:rPr sz="1725" b="0">
                <a:solidFill>
                  <a:srgbClr val="172B4D"/>
                </a:solidFill>
                <a:latin typeface="Bitstream Charter"/>
                <a:ea typeface="Bitstream Charter"/>
                <a:cs typeface="Bitstream Charter"/>
              </a:rPr>
              <a:t>Validierung und Fehlerbehandlung</a:t>
            </a:r>
          </a:p>
        </p:txBody>
      </p:sp>
      <p:sp>
        <p:nvSpPr>
          <p:cNvPr id="8" name="">
            <a:extLst xmlns:a="http://schemas.openxmlformats.org/drawingml/2006/main">
              <a:ext uri="{FF2B5EF4-FFF2-40B4-BE49-F238E27FC236}">
                <a16:creationId xmlns:a16="http://schemas.microsoft.com/office/drawing/2014/main" id="{CAE68AAF-D0D7-4121-A8CB-43E40FB4DBF9}"/>
              </a:ext>
            </a:extLst>
          </p:cNvPr>
          <p:cNvSpPr>
            <a:spLocks xmlns:a="http://schemas.openxmlformats.org/drawingml/2006/main" noGrp="1"/>
          </p:cNvSpPr>
          <p:nvPr/>
        </p:nvSpPr>
        <p:spPr>
          <a:xfrm xmlns:a="http://schemas.openxmlformats.org/drawingml/2006/main">
            <a:off x="6858000" y="20955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4800" b="1">
                <a:solidFill>
                  <a:srgbClr val="C53B3B"/>
                </a:solidFill>
                <a:latin typeface="Bitstream Charter"/>
                <a:ea typeface="Bitstream Charter"/>
                <a:cs typeface="Bitstream Charter"/>
              </a:defRPr>
            </a:pPr>
            <a:r>
              <a:rPr sz="4800" b="1">
                <a:solidFill>
                  <a:srgbClr val="C53B3B"/>
                </a:solidFill>
                <a:latin typeface="Bitstream Charter"/>
                <a:ea typeface="Bitstream Charter"/>
                <a:cs typeface="Bitstream Charter"/>
              </a:rPr>
              <a:t>NO-GO</a:t>
            </a:r>
          </a:p>
        </p:txBody>
      </p:sp>
      <p:sp>
        <p:nvSpPr>
          <p:cNvPr id="9" name="">
            <a:extLst xmlns:a="http://schemas.openxmlformats.org/drawingml/2006/main">
              <a:ext uri="{FF2B5EF4-FFF2-40B4-BE49-F238E27FC236}">
                <a16:creationId xmlns:a16="http://schemas.microsoft.com/office/drawing/2014/main" id="{A45E7783-88DC-4921-AA5B-FE014E48B3FB}"/>
              </a:ext>
            </a:extLst>
          </p:cNvPr>
          <p:cNvSpPr>
            <a:spLocks xmlns:a="http://schemas.openxmlformats.org/drawingml/2006/main" noGrp="1"/>
          </p:cNvSpPr>
          <p:nvPr/>
        </p:nvSpPr>
        <p:spPr>
          <a:xfrm xmlns:a="http://schemas.openxmlformats.org/drawingml/2006/main">
            <a:off x="6810375" y="31432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102A43"/>
                </a:solidFill>
                <a:latin typeface="Bitstream Charter"/>
                <a:ea typeface="Bitstream Charter"/>
                <a:cs typeface="Bitstream Charter"/>
              </a:defRPr>
            </a:pPr>
            <a:r>
              <a:rPr sz="1950" b="1">
                <a:solidFill>
                  <a:srgbClr val="102A43"/>
                </a:solidFill>
                <a:latin typeface="Bitstream Charter"/>
                <a:ea typeface="Bitstream Charter"/>
                <a:cs typeface="Bitstream Charter"/>
              </a:rPr>
              <a:t>Zwei offene Defects mit hoher Severity blockieren den Release</a:t>
            </a:r>
          </a:p>
        </p:txBody>
      </p:sp>
      <p:sp>
        <p:nvSpPr>
          <p:cNvPr id="10" name="">
            <a:extLst xmlns:a="http://schemas.openxmlformats.org/drawingml/2006/main">
              <a:ext uri="{FF2B5EF4-FFF2-40B4-BE49-F238E27FC236}">
                <a16:creationId xmlns:a16="http://schemas.microsoft.com/office/drawing/2014/main" id="{01A15D06-7DA1-480E-B1FC-0D99A93C863E}"/>
              </a:ext>
            </a:extLst>
          </p:cNvPr>
          <p:cNvSpPr>
            <a:spLocks xmlns:a="http://schemas.openxmlformats.org/drawingml/2006/main" noGrp="1"/>
          </p:cNvSpPr>
          <p:nvPr/>
        </p:nvSpPr>
        <p:spPr>
          <a:xfrm xmlns:a="http://schemas.openxmlformats.org/drawingml/2006/main">
            <a:off x="7000875" y="442912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52667A"/>
                </a:solidFill>
                <a:latin typeface="Bitstream Charter"/>
                <a:ea typeface="Bitstream Charter"/>
                <a:cs typeface="Bitstream Charter"/>
              </a:defRPr>
            </a:pPr>
            <a:r>
              <a:rPr sz="1575" b="0">
                <a:solidFill>
                  <a:srgbClr val="52667A"/>
                </a:solidFill>
                <a:latin typeface="Bitstream Charter"/>
                <a:ea typeface="Bitstream Charter"/>
                <a:cs typeface="Bitstream Charter"/>
              </a:rPr>
              <a:t>DEF-01  Fremde Tasks sichtbar</a:t>
            </a:r>
          </a:p>
          <a:p xmlns:a="http://schemas.openxmlformats.org/drawingml/2006/main">
            <a:pPr algn="ctr">
              <a:defRPr sz="1575" b="0">
                <a:solidFill>
                  <a:srgbClr val="52667A"/>
                </a:solidFill>
                <a:latin typeface="Bitstream Charter"/>
                <a:ea typeface="Bitstream Charter"/>
                <a:cs typeface="Bitstream Charter"/>
              </a:defRPr>
            </a:pPr>
            <a:r>
              <a:rPr sz="1575" b="0">
                <a:solidFill>
                  <a:srgbClr val="52667A"/>
                </a:solidFill>
                <a:latin typeface="Bitstream Charter"/>
                <a:ea typeface="Bitstream Charter"/>
                <a:cs typeface="Bitstream Charter"/>
              </a:rPr>
              <a:t>DEF-05  Interne Fehlerdetails offengelegt</a:t>
            </a:r>
          </a:p>
        </p:txBody>
      </p:sp>
      <p:sp>
        <p:nvSpPr>
          <p:cNvPr id="11" name="">
            <a:extLst xmlns:a="http://schemas.openxmlformats.org/drawingml/2006/main">
              <a:ext uri="{FF2B5EF4-FFF2-40B4-BE49-F238E27FC236}">
                <a16:creationId xmlns:a16="http://schemas.microsoft.com/office/drawing/2014/main" id="{CBD8B9C2-DE5D-4CA3-A432-B5A4138FCBDA}"/>
              </a:ext>
            </a:extLst>
          </p:cNvPr>
          <p:cNvSpPr>
            <a:spLocks xmlns:a="http://schemas.openxmlformats.org/drawingml/2006/main" noGrp="1"/>
          </p:cNvSpPr>
          <p:nvPr/>
        </p:nvSpPr>
        <p:spPr>
          <a:xfrm xmlns:a="http://schemas.openxmlformats.org/drawingml/2006/main">
            <a:off x="685800" y="64960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78909C"/>
                </a:solidFill>
                <a:latin typeface="Bitstream Charter"/>
                <a:ea typeface="Bitstream Charter"/>
                <a:cs typeface="Bitstream Charter"/>
              </a:defRPr>
            </a:pPr>
            <a:r>
              <a:rPr sz="900" b="0">
                <a:solidFill>
                  <a:srgbClr val="78909C"/>
                </a:solidFill>
                <a:latin typeface="Bitstream Charter"/>
                <a:ea typeface="Bitstream Charter"/>
                <a:cs typeface="Bitstream Charter"/>
              </a:rPr>
              <a:t>M450 LB-02   Sladjan Vasic                                      2</a:t>
            </a:r>
          </a:p>
        </p:txBody>
      </p:sp>
    </p:spTree>
    <p:extLst>
      <p:ext uri="{BB962C8B-B14F-4D97-AF65-F5344CB8AC3E}">
        <p14:creationId xmlns:p14="http://schemas.microsoft.com/office/powerpoint/2010/main" val="6885984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5B7424-9017-4577-8530-DEBC6D9AE6E9}"/>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02A43"/>
                </a:solidFill>
                <a:latin typeface="Bitstream Charter"/>
                <a:ea typeface="Bitstream Charter"/>
                <a:cs typeface="Bitstream Charter"/>
              </a:defRPr>
            </a:pPr>
            <a:r>
              <a:rPr sz="2700" b="1">
                <a:solidFill>
                  <a:srgbClr val="102A43"/>
                </a:solidFill>
                <a:latin typeface="Bitstream Charter"/>
                <a:ea typeface="Bitstream Charter"/>
                <a:cs typeface="Bitstream Charter"/>
              </a:rPr>
              <a:t>Teststrategie und Top-Risiken</a:t>
            </a:r>
          </a:p>
        </p:txBody>
      </p:sp>
      <p:sp>
        <p:nvSpPr>
          <p:cNvPr id="2" name="">
            <a:extLst xmlns:a="http://schemas.openxmlformats.org/drawingml/2006/main">
              <a:ext uri="{FF2B5EF4-FFF2-40B4-BE49-F238E27FC236}">
                <a16:creationId xmlns:a16="http://schemas.microsoft.com/office/drawing/2014/main" id="{0E1852BC-84F6-42D2-8273-CCB73A34068E}"/>
              </a:ext>
            </a:extLst>
          </p:cNvPr>
          <p:cNvSpPr>
            <a:spLocks xmlns:a="http://schemas.openxmlformats.org/drawingml/2006/main" noGrp="1"/>
          </p:cNvSpPr>
          <p:nvPr/>
        </p:nvSpPr>
        <p:spPr>
          <a:xfrm xmlns:a="http://schemas.openxmlformats.org/drawingml/2006/main">
            <a:off x="685800" y="9620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67A"/>
                </a:solidFill>
                <a:latin typeface="Bitstream Charter"/>
                <a:ea typeface="Bitstream Charter"/>
                <a:cs typeface="Bitstream Charter"/>
              </a:defRPr>
            </a:pPr>
            <a:r>
              <a:rPr sz="1350" b="0">
                <a:solidFill>
                  <a:srgbClr val="52667A"/>
                </a:solidFill>
                <a:latin typeface="Bitstream Charter"/>
                <a:ea typeface="Bitstream Charter"/>
                <a:cs typeface="Bitstream Charter"/>
              </a:rPr>
              <a:t>Hohe Risiken zuerst, danach fachliche Validierung</a:t>
            </a:r>
          </a:p>
        </p:txBody>
      </p:sp>
      <p:graphicFrame>
        <p:nvGraphicFramePr>
          <p:cNvPr id="9" name=""/>
          <p:cNvGraphicFramePr/>
          <p:nvPr/>
        </p:nvGraphicFramePr>
        <p:xfrm>
          <a:off xmlns:a="http://schemas.openxmlformats.org/drawingml/2006/main" x="685800" y="1619250"/>
          <a:ext xmlns:a="http://schemas.openxmlformats.org/drawingml/2006/main" cx="10810875" cy="3429000"/>
        </p:xfrm>
        <a:graphic xmlns:a="http://schemas.openxmlformats.org/drawingml/2006/main">
          <a:graphicData uri="http://schemas.openxmlformats.org/drawingml/2006/table">
            <a:tbl>
              <a:tblPr firstRow="1" bandRow="1"/>
              <a:tblGrid>
                <a:gridCol w="3714750"/>
                <a:gridCol w="762000"/>
                <a:gridCol w="762000"/>
                <a:gridCol w="952500"/>
                <a:gridCol w="4619625"/>
              </a:tblGrid>
              <a:tr h="571500">
                <a:tc>
                  <a:txBody>
                    <a:bodyPr/>
                    <a:lstStyle/>
                    <a:p>
                      <a:r>
                        <a:rPr sz="1350" b="1">
                          <a:solidFill>
                            <a:srgbClr val="FFFFFF"/>
                          </a:solidFill>
                          <a:latin typeface="Bitstream Charter"/>
                          <a:ea typeface="Bitstream Charter"/>
                          <a:cs typeface="Bitstream Charter"/>
                        </a:rPr>
                        <a:t>Risiko</a:t>
                      </a:r>
                    </a:p>
                  </a:txBody>
                  <a:tcPr marL="91440" marR="91440" marT="45720" marB="45720">
                    <a:solidFill>
                      <a:srgbClr val="102A43"/>
                    </a:solidFill>
                  </a:tcPr>
                </a:tc>
                <a:tc>
                  <a:txBody>
                    <a:bodyPr/>
                    <a:lstStyle/>
                    <a:p>
                      <a:r>
                        <a:rPr sz="1350" b="1">
                          <a:solidFill>
                            <a:srgbClr val="FFFFFF"/>
                          </a:solidFill>
                          <a:latin typeface="Bitstream Charter"/>
                          <a:ea typeface="Bitstream Charter"/>
                          <a:cs typeface="Bitstream Charter"/>
                        </a:rPr>
                        <a:t>W</a:t>
                      </a:r>
                    </a:p>
                  </a:txBody>
                  <a:tcPr marL="91440" marR="91440" marT="45720" marB="45720">
                    <a:solidFill>
                      <a:srgbClr val="102A43"/>
                    </a:solidFill>
                  </a:tcPr>
                </a:tc>
                <a:tc>
                  <a:txBody>
                    <a:bodyPr/>
                    <a:lstStyle/>
                    <a:p>
                      <a:r>
                        <a:rPr sz="1350" b="1">
                          <a:solidFill>
                            <a:srgbClr val="FFFFFF"/>
                          </a:solidFill>
                          <a:latin typeface="Bitstream Charter"/>
                          <a:ea typeface="Bitstream Charter"/>
                          <a:cs typeface="Bitstream Charter"/>
                        </a:rPr>
                        <a:t>A</a:t>
                      </a:r>
                    </a:p>
                  </a:txBody>
                  <a:tcPr marL="91440" marR="91440" marT="45720" marB="45720">
                    <a:solidFill>
                      <a:srgbClr val="102A43"/>
                    </a:solidFill>
                  </a:tcPr>
                </a:tc>
                <a:tc>
                  <a:txBody>
                    <a:bodyPr/>
                    <a:lstStyle/>
                    <a:p>
                      <a:r>
                        <a:rPr sz="1350" b="1">
                          <a:solidFill>
                            <a:srgbClr val="FFFFFF"/>
                          </a:solidFill>
                          <a:latin typeface="Bitstream Charter"/>
                          <a:ea typeface="Bitstream Charter"/>
                          <a:cs typeface="Bitstream Charter"/>
                        </a:rPr>
                        <a:t>Wert</a:t>
                      </a:r>
                    </a:p>
                  </a:txBody>
                  <a:tcPr marL="91440" marR="91440" marT="45720" marB="45720">
                    <a:solidFill>
                      <a:srgbClr val="102A43"/>
                    </a:solidFill>
                  </a:tcPr>
                </a:tc>
                <a:tc>
                  <a:txBody>
                    <a:bodyPr/>
                    <a:lstStyle/>
                    <a:p>
                      <a:r>
                        <a:rPr sz="1350" b="1">
                          <a:solidFill>
                            <a:srgbClr val="FFFFFF"/>
                          </a:solidFill>
                          <a:latin typeface="Bitstream Charter"/>
                          <a:ea typeface="Bitstream Charter"/>
                          <a:cs typeface="Bitstream Charter"/>
                        </a:rPr>
                        <a:t>Testansatz</a:t>
                      </a:r>
                    </a:p>
                  </a:txBody>
                  <a:tcPr marL="91440" marR="91440" marT="45720" marB="45720">
                    <a:solidFill>
                      <a:srgbClr val="102A43"/>
                    </a:solidFill>
                  </a:tcPr>
                </a:tc>
              </a:tr>
              <a:tr h="571500">
                <a:tc>
                  <a:txBody>
                    <a:bodyPr/>
                    <a:lstStyle/>
                    <a:p>
                      <a:r>
                        <a:rPr sz="1275">
                          <a:solidFill>
                            <a:srgbClr val="172B4D"/>
                          </a:solidFill>
                          <a:latin typeface="Bitstream Charter"/>
                          <a:ea typeface="Bitstream Charter"/>
                          <a:cs typeface="Bitstream Charter"/>
                        </a:rPr>
                        <a:t>Fremde Tasks sichtbar</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350" b="1">
                          <a:solidFill>
                            <a:srgbClr val="C53B3B"/>
                          </a:solidFill>
                          <a:latin typeface="Bitstream Charter"/>
                          <a:ea typeface="Bitstream Charter"/>
                          <a:cs typeface="Bitstream Charter"/>
                        </a:rPr>
                        <a:t>9</a:t>
                      </a:r>
                    </a:p>
                  </a:txBody>
                  <a:tcPr marL="91440" marR="91440" marT="45720" marB="45720">
                    <a:solidFill>
                      <a:srgbClr val="FDECEC"/>
                    </a:solidFill>
                  </a:tcPr>
                </a:tc>
                <a:tc>
                  <a:txBody>
                    <a:bodyPr/>
                    <a:lstStyle/>
                    <a:p>
                      <a:r>
                        <a:rPr sz="1275">
                          <a:solidFill>
                            <a:srgbClr val="172B4D"/>
                          </a:solidFill>
                          <a:latin typeface="Bitstream Charter"/>
                          <a:ea typeface="Bitstream Charter"/>
                          <a:cs typeface="Bitstream Charter"/>
                        </a:rPr>
                        <a:t>API, Security</a:t>
                      </a:r>
                    </a:p>
                  </a:txBody>
                  <a:tcPr marL="91440" marR="91440" marT="45720" marB="45720"/>
                </a:tc>
              </a:tr>
              <a:tr h="571500">
                <a:tc>
                  <a:txBody>
                    <a:bodyPr/>
                    <a:lstStyle/>
                    <a:p>
                      <a:r>
                        <a:rPr sz="1275">
                          <a:solidFill>
                            <a:srgbClr val="172B4D"/>
                          </a:solidFill>
                          <a:latin typeface="Bitstream Charter"/>
                          <a:ea typeface="Bitstream Charter"/>
                          <a:cs typeface="Bitstream Charter"/>
                        </a:rPr>
                        <a:t>Fremde Tasks änderbar</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350" b="1">
                          <a:solidFill>
                            <a:srgbClr val="C53B3B"/>
                          </a:solidFill>
                          <a:latin typeface="Bitstream Charter"/>
                          <a:ea typeface="Bitstream Charter"/>
                          <a:cs typeface="Bitstream Charter"/>
                        </a:rPr>
                        <a:t>9</a:t>
                      </a:r>
                    </a:p>
                  </a:txBody>
                  <a:tcPr marL="91440" marR="91440" marT="45720" marB="45720">
                    <a:solidFill>
                      <a:srgbClr val="FDECEC"/>
                    </a:solidFill>
                  </a:tcPr>
                </a:tc>
                <a:tc>
                  <a:txBody>
                    <a:bodyPr/>
                    <a:lstStyle/>
                    <a:p>
                      <a:r>
                        <a:rPr sz="1275">
                          <a:solidFill>
                            <a:srgbClr val="172B4D"/>
                          </a:solidFill>
                          <a:latin typeface="Bitstream Charter"/>
                          <a:ea typeface="Bitstream Charter"/>
                          <a:cs typeface="Bitstream Charter"/>
                        </a:rPr>
                        <a:t>Service, API</a:t>
                      </a:r>
                    </a:p>
                  </a:txBody>
                  <a:tcPr marL="91440" marR="91440" marT="45720" marB="45720"/>
                </a:tc>
              </a:tr>
              <a:tr h="571500">
                <a:tc>
                  <a:txBody>
                    <a:bodyPr/>
                    <a:lstStyle/>
                    <a:p>
                      <a:r>
                        <a:rPr sz="1275">
                          <a:solidFill>
                            <a:srgbClr val="172B4D"/>
                          </a:solidFill>
                          <a:latin typeface="Bitstream Charter"/>
                          <a:ea typeface="Bitstream Charter"/>
                          <a:cs typeface="Bitstream Charter"/>
                        </a:rPr>
                        <a:t>Kontosperrung fehlerhaft</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350" b="1">
                          <a:solidFill>
                            <a:srgbClr val="C53B3B"/>
                          </a:solidFill>
                          <a:latin typeface="Bitstream Charter"/>
                          <a:ea typeface="Bitstream Charter"/>
                          <a:cs typeface="Bitstream Charter"/>
                        </a:rPr>
                        <a:t>9</a:t>
                      </a:r>
                    </a:p>
                  </a:txBody>
                  <a:tcPr marL="91440" marR="91440" marT="45720" marB="45720">
                    <a:solidFill>
                      <a:srgbClr val="FDECEC"/>
                    </a:solidFill>
                  </a:tcPr>
                </a:tc>
                <a:tc>
                  <a:txBody>
                    <a:bodyPr/>
                    <a:lstStyle/>
                    <a:p>
                      <a:r>
                        <a:rPr sz="1275">
                          <a:solidFill>
                            <a:srgbClr val="172B4D"/>
                          </a:solidFill>
                          <a:latin typeface="Bitstream Charter"/>
                          <a:ea typeface="Bitstream Charter"/>
                          <a:cs typeface="Bitstream Charter"/>
                        </a:rPr>
                        <a:t>Grenzwert</a:t>
                      </a:r>
                    </a:p>
                  </a:txBody>
                  <a:tcPr marL="91440" marR="91440" marT="45720" marB="45720"/>
                </a:tc>
              </a:tr>
              <a:tr h="571500">
                <a:tc>
                  <a:txBody>
                    <a:bodyPr/>
                    <a:lstStyle/>
                    <a:p>
                      <a:r>
                        <a:rPr sz="1275">
                          <a:solidFill>
                            <a:srgbClr val="172B4D"/>
                          </a:solidFill>
                          <a:latin typeface="Bitstream Charter"/>
                          <a:ea typeface="Bitstream Charter"/>
                          <a:cs typeface="Bitstream Charter"/>
                        </a:rPr>
                        <a:t>Ungültige Taskdaten</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275">
                          <a:solidFill>
                            <a:srgbClr val="172B4D"/>
                          </a:solidFill>
                          <a:latin typeface="Bitstream Charter"/>
                          <a:ea typeface="Bitstream Charter"/>
                          <a:cs typeface="Bitstream Charter"/>
                        </a:rPr>
                        <a:t>2</a:t>
                      </a:r>
                    </a:p>
                  </a:txBody>
                  <a:tcPr marL="91440" marR="91440" marT="45720" marB="45720"/>
                </a:tc>
                <a:tc>
                  <a:txBody>
                    <a:bodyPr/>
                    <a:lstStyle/>
                    <a:p>
                      <a:r>
                        <a:rPr sz="1350" b="1">
                          <a:solidFill>
                            <a:srgbClr val="D97706"/>
                          </a:solidFill>
                          <a:latin typeface="Bitstream Charter"/>
                          <a:ea typeface="Bitstream Charter"/>
                          <a:cs typeface="Bitstream Charter"/>
                        </a:rPr>
                        <a:t>6</a:t>
                      </a:r>
                    </a:p>
                  </a:txBody>
                  <a:tcPr marL="91440" marR="91440" marT="45720" marB="45720">
                    <a:solidFill>
                      <a:srgbClr val="FFF5E5"/>
                    </a:solidFill>
                  </a:tcPr>
                </a:tc>
                <a:tc>
                  <a:txBody>
                    <a:bodyPr/>
                    <a:lstStyle/>
                    <a:p>
                      <a:r>
                        <a:rPr sz="1275">
                          <a:solidFill>
                            <a:srgbClr val="172B4D"/>
                          </a:solidFill>
                          <a:latin typeface="Bitstream Charter"/>
                          <a:ea typeface="Bitstream Charter"/>
                          <a:cs typeface="Bitstream Charter"/>
                        </a:rPr>
                        <a:t>Unit, API</a:t>
                      </a:r>
                    </a:p>
                  </a:txBody>
                  <a:tcPr marL="91440" marR="91440" marT="45720" marB="45720"/>
                </a:tc>
              </a:tr>
              <a:tr h="571500">
                <a:tc>
                  <a:txBody>
                    <a:bodyPr/>
                    <a:lstStyle/>
                    <a:p>
                      <a:r>
                        <a:rPr sz="1275">
                          <a:solidFill>
                            <a:srgbClr val="172B4D"/>
                          </a:solidFill>
                          <a:latin typeface="Bitstream Charter"/>
                          <a:ea typeface="Bitstream Charter"/>
                          <a:cs typeface="Bitstream Charter"/>
                        </a:rPr>
                        <a:t>Interne Fehlerdetails</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275">
                          <a:solidFill>
                            <a:srgbClr val="172B4D"/>
                          </a:solidFill>
                          <a:latin typeface="Bitstream Charter"/>
                          <a:ea typeface="Bitstream Charter"/>
                          <a:cs typeface="Bitstream Charter"/>
                        </a:rPr>
                        <a:t>3</a:t>
                      </a:r>
                    </a:p>
                  </a:txBody>
                  <a:tcPr marL="91440" marR="91440" marT="45720" marB="45720"/>
                </a:tc>
                <a:tc>
                  <a:txBody>
                    <a:bodyPr/>
                    <a:lstStyle/>
                    <a:p>
                      <a:r>
                        <a:rPr sz="1350" b="1">
                          <a:solidFill>
                            <a:srgbClr val="C53B3B"/>
                          </a:solidFill>
                          <a:latin typeface="Bitstream Charter"/>
                          <a:ea typeface="Bitstream Charter"/>
                          <a:cs typeface="Bitstream Charter"/>
                        </a:rPr>
                        <a:t>9</a:t>
                      </a:r>
                    </a:p>
                  </a:txBody>
                  <a:tcPr marL="91440" marR="91440" marT="45720" marB="45720">
                    <a:solidFill>
                      <a:srgbClr val="FDECEC"/>
                    </a:solidFill>
                  </a:tcPr>
                </a:tc>
                <a:tc>
                  <a:txBody>
                    <a:bodyPr/>
                    <a:lstStyle/>
                    <a:p>
                      <a:r>
                        <a:rPr sz="1275">
                          <a:solidFill>
                            <a:srgbClr val="172B4D"/>
                          </a:solidFill>
                          <a:latin typeface="Bitstream Charter"/>
                          <a:ea typeface="Bitstream Charter"/>
                          <a:cs typeface="Bitstream Charter"/>
                        </a:rPr>
                        <a:t>Negativ, Security</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B3B86432-E855-4910-BA67-BB07F940A3DD}"/>
              </a:ext>
            </a:extLst>
          </p:cNvPr>
          <p:cNvSpPr>
            <a:spLocks xmlns:a="http://schemas.openxmlformats.org/drawingml/2006/main" noGrp="1"/>
          </p:cNvSpPr>
          <p:nvPr/>
        </p:nvSpPr>
        <p:spPr>
          <a:xfrm xmlns:a="http://schemas.openxmlformats.org/drawingml/2006/main">
            <a:off x="704850" y="53340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2667A"/>
                </a:solidFill>
                <a:latin typeface="Bitstream Charter"/>
                <a:ea typeface="Bitstream Charter"/>
                <a:cs typeface="Bitstream Charter"/>
              </a:defRPr>
            </a:pPr>
            <a:r>
              <a:rPr sz="1200" b="0">
                <a:solidFill>
                  <a:srgbClr val="52667A"/>
                </a:solidFill>
                <a:latin typeface="Bitstream Charter"/>
                <a:ea typeface="Bitstream Charter"/>
                <a:cs typeface="Bitstream Charter"/>
              </a:rPr>
              <a:t>Skala: Wahrscheinlichkeit und Auswirkung von 1 bis 3</a:t>
            </a:r>
          </a:p>
        </p:txBody>
      </p:sp>
      <p:sp>
        <p:nvSpPr>
          <p:cNvPr id="5" name="">
            <a:extLst xmlns:a="http://schemas.openxmlformats.org/drawingml/2006/main">
              <a:ext uri="{FF2B5EF4-FFF2-40B4-BE49-F238E27FC236}">
                <a16:creationId xmlns:a16="http://schemas.microsoft.com/office/drawing/2014/main" id="{919ADE99-C22E-4622-ACBC-AD002AC5D242}"/>
              </a:ext>
            </a:extLst>
          </p:cNvPr>
          <p:cNvSpPr>
            <a:spLocks xmlns:a="http://schemas.openxmlformats.org/drawingml/2006/main" noGrp="1"/>
          </p:cNvSpPr>
          <p:nvPr/>
        </p:nvSpPr>
        <p:spPr>
          <a:xfrm xmlns:a="http://schemas.openxmlformats.org/drawingml/2006/main">
            <a:off x="704850" y="58102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In Scope: API-Funktionen und Rollenrechte     Out of Scope: Last, Cloud und Persistenz</a:t>
            </a:r>
          </a:p>
        </p:txBody>
      </p:sp>
      <p:sp>
        <p:nvSpPr>
          <p:cNvPr id="6" name="">
            <a:extLst xmlns:a="http://schemas.openxmlformats.org/drawingml/2006/main">
              <a:ext uri="{FF2B5EF4-FFF2-40B4-BE49-F238E27FC236}">
                <a16:creationId xmlns:a16="http://schemas.microsoft.com/office/drawing/2014/main" id="{5913166E-6DAE-4E9D-834D-92DC61B6581A}"/>
              </a:ext>
            </a:extLst>
          </p:cNvPr>
          <p:cNvSpPr>
            <a:spLocks xmlns:a="http://schemas.openxmlformats.org/drawingml/2006/main" noGrp="1"/>
          </p:cNvSpPr>
          <p:nvPr/>
        </p:nvSpPr>
        <p:spPr>
          <a:xfrm xmlns:a="http://schemas.openxmlformats.org/drawingml/2006/main">
            <a:off x="685800" y="64960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78909C"/>
                </a:solidFill>
                <a:latin typeface="Bitstream Charter"/>
                <a:ea typeface="Bitstream Charter"/>
                <a:cs typeface="Bitstream Charter"/>
              </a:defRPr>
            </a:pPr>
            <a:r>
              <a:rPr sz="900" b="0">
                <a:solidFill>
                  <a:srgbClr val="78909C"/>
                </a:solidFill>
                <a:latin typeface="Bitstream Charter"/>
                <a:ea typeface="Bitstream Charter"/>
                <a:cs typeface="Bitstream Charter"/>
              </a:rPr>
              <a:t>M450 LB-02   Sladjan Vasic                                      3</a:t>
            </a:r>
          </a:p>
        </p:txBody>
      </p:sp>
    </p:spTree>
    <p:extLst>
      <p:ext uri="{BB962C8B-B14F-4D97-AF65-F5344CB8AC3E}">
        <p14:creationId xmlns:p14="http://schemas.microsoft.com/office/powerpoint/2010/main" val="11979154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F4A3994-0083-4314-8E6B-D729BEC81F6E}"/>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02A43"/>
                </a:solidFill>
                <a:latin typeface="Bitstream Charter"/>
                <a:ea typeface="Bitstream Charter"/>
                <a:cs typeface="Bitstream Charter"/>
              </a:defRPr>
            </a:pPr>
            <a:r>
              <a:rPr sz="2700" b="1">
                <a:solidFill>
                  <a:srgbClr val="102A43"/>
                </a:solidFill>
                <a:latin typeface="Bitstream Charter"/>
                <a:ea typeface="Bitstream Charter"/>
                <a:cs typeface="Bitstream Charter"/>
              </a:rPr>
              <a:t>Testabdeckung</a:t>
            </a:r>
          </a:p>
        </p:txBody>
      </p:sp>
      <p:sp>
        <p:nvSpPr>
          <p:cNvPr id="2" name="">
            <a:extLst xmlns:a="http://schemas.openxmlformats.org/drawingml/2006/main">
              <a:ext uri="{FF2B5EF4-FFF2-40B4-BE49-F238E27FC236}">
                <a16:creationId xmlns:a16="http://schemas.microsoft.com/office/drawing/2014/main" id="{B41899CD-8853-4BB7-A79D-F384E36340F4}"/>
              </a:ext>
            </a:extLst>
          </p:cNvPr>
          <p:cNvSpPr>
            <a:spLocks xmlns:a="http://schemas.openxmlformats.org/drawingml/2006/main" noGrp="1"/>
          </p:cNvSpPr>
          <p:nvPr/>
        </p:nvSpPr>
        <p:spPr>
          <a:xfrm xmlns:a="http://schemas.openxmlformats.org/drawingml/2006/main">
            <a:off x="685800" y="9620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67A"/>
                </a:solidFill>
                <a:latin typeface="Bitstream Charter"/>
                <a:ea typeface="Bitstream Charter"/>
                <a:cs typeface="Bitstream Charter"/>
              </a:defRPr>
            </a:pPr>
            <a:r>
              <a:rPr sz="1350" b="0">
                <a:solidFill>
                  <a:srgbClr val="52667A"/>
                </a:solidFill>
                <a:latin typeface="Bitstream Charter"/>
                <a:ea typeface="Bitstream Charter"/>
                <a:cs typeface="Bitstream Charter"/>
              </a:rPr>
              <a:t>Manuelle und automatisierte Prüfung ergänzen sich</a:t>
            </a:r>
          </a:p>
        </p:txBody>
      </p:sp>
      <p:sp>
        <p:nvSpPr>
          <p:cNvPr id="3" name="">
            <a:extLst xmlns:a="http://schemas.openxmlformats.org/drawingml/2006/main">
              <a:ext uri="{FF2B5EF4-FFF2-40B4-BE49-F238E27FC236}">
                <a16:creationId xmlns:a16="http://schemas.microsoft.com/office/drawing/2014/main" id="{80F4DB3F-8EA7-476E-B491-42A28D05CFC5}"/>
              </a:ext>
            </a:extLst>
          </p:cNvPr>
          <p:cNvSpPr>
            <a:spLocks xmlns:a="http://schemas.openxmlformats.org/drawingml/2006/main" noGrp="1"/>
          </p:cNvSpPr>
          <p:nvPr/>
        </p:nvSpPr>
        <p:spPr>
          <a:xfrm xmlns:a="http://schemas.openxmlformats.org/drawingml/2006/main">
            <a:off x="857250" y="1809750"/>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4650" b="1">
                <a:solidFill>
                  <a:srgbClr val="2364AA"/>
                </a:solidFill>
                <a:latin typeface="Bitstream Charter"/>
                <a:ea typeface="Bitstream Charter"/>
                <a:cs typeface="Bitstream Charter"/>
              </a:defRPr>
            </a:pPr>
            <a:r>
              <a:rPr sz="4650" b="1">
                <a:solidFill>
                  <a:srgbClr val="2364AA"/>
                </a:solidFill>
                <a:latin typeface="Bitstream Charter"/>
                <a:ea typeface="Bitstream Charter"/>
                <a:cs typeface="Bitstream Charter"/>
              </a:rPr>
              <a:t>16</a:t>
            </a:r>
          </a:p>
        </p:txBody>
      </p:sp>
      <p:sp>
        <p:nvSpPr>
          <p:cNvPr id="4" name="">
            <a:extLst xmlns:a="http://schemas.openxmlformats.org/drawingml/2006/main">
              <a:ext uri="{FF2B5EF4-FFF2-40B4-BE49-F238E27FC236}">
                <a16:creationId xmlns:a16="http://schemas.microsoft.com/office/drawing/2014/main" id="{1631B9D7-E0EE-4FC3-B239-847BDF176AE1}"/>
              </a:ext>
            </a:extLst>
          </p:cNvPr>
          <p:cNvSpPr>
            <a:spLocks xmlns:a="http://schemas.openxmlformats.org/drawingml/2006/main" noGrp="1"/>
          </p:cNvSpPr>
          <p:nvPr/>
        </p:nvSpPr>
        <p:spPr>
          <a:xfrm xmlns:a="http://schemas.openxmlformats.org/drawingml/2006/main">
            <a:off x="857250" y="26193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Testfälle</a:t>
            </a:r>
          </a:p>
        </p:txBody>
      </p:sp>
      <p:sp>
        <p:nvSpPr>
          <p:cNvPr id="5" name="">
            <a:extLst xmlns:a="http://schemas.openxmlformats.org/drawingml/2006/main">
              <a:ext uri="{FF2B5EF4-FFF2-40B4-BE49-F238E27FC236}">
                <a16:creationId xmlns:a16="http://schemas.microsoft.com/office/drawing/2014/main" id="{B534545E-F013-4E0C-BA22-570B0E0A6D46}"/>
              </a:ext>
            </a:extLst>
          </p:cNvPr>
          <p:cNvSpPr>
            <a:spLocks xmlns:a="http://schemas.openxmlformats.org/drawingml/2006/main" noGrp="1"/>
          </p:cNvSpPr>
          <p:nvPr/>
        </p:nvSpPr>
        <p:spPr>
          <a:xfrm xmlns:a="http://schemas.openxmlformats.org/drawingml/2006/main">
            <a:off x="3238500" y="1809750"/>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4650" b="1">
                <a:solidFill>
                  <a:srgbClr val="2CB1BC"/>
                </a:solidFill>
                <a:latin typeface="Bitstream Charter"/>
                <a:ea typeface="Bitstream Charter"/>
                <a:cs typeface="Bitstream Charter"/>
              </a:defRPr>
            </a:pPr>
            <a:r>
              <a:rPr sz="4650" b="1">
                <a:solidFill>
                  <a:srgbClr val="2CB1BC"/>
                </a:solidFill>
                <a:latin typeface="Bitstream Charter"/>
                <a:ea typeface="Bitstream Charter"/>
                <a:cs typeface="Bitstream Charter"/>
              </a:rPr>
              <a:t>7</a:t>
            </a:r>
          </a:p>
        </p:txBody>
      </p:sp>
      <p:sp>
        <p:nvSpPr>
          <p:cNvPr id="6" name="">
            <a:extLst xmlns:a="http://schemas.openxmlformats.org/drawingml/2006/main">
              <a:ext uri="{FF2B5EF4-FFF2-40B4-BE49-F238E27FC236}">
                <a16:creationId xmlns:a16="http://schemas.microsoft.com/office/drawing/2014/main" id="{F10D61C7-1A09-46A6-8021-1DD114E1E9AA}"/>
              </a:ext>
            </a:extLst>
          </p:cNvPr>
          <p:cNvSpPr>
            <a:spLocks xmlns:a="http://schemas.openxmlformats.org/drawingml/2006/main" noGrp="1"/>
          </p:cNvSpPr>
          <p:nvPr/>
        </p:nvSpPr>
        <p:spPr>
          <a:xfrm xmlns:a="http://schemas.openxmlformats.org/drawingml/2006/main">
            <a:off x="3238500" y="2619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neue automatisierte Tests</a:t>
            </a:r>
          </a:p>
        </p:txBody>
      </p:sp>
      <p:sp>
        <p:nvSpPr>
          <p:cNvPr id="7" name="">
            <a:extLst xmlns:a="http://schemas.openxmlformats.org/drawingml/2006/main">
              <a:ext uri="{FF2B5EF4-FFF2-40B4-BE49-F238E27FC236}">
                <a16:creationId xmlns:a16="http://schemas.microsoft.com/office/drawing/2014/main" id="{04ABE6C4-984A-4752-AF22-352901475200}"/>
              </a:ext>
            </a:extLst>
          </p:cNvPr>
          <p:cNvSpPr>
            <a:spLocks xmlns:a="http://schemas.openxmlformats.org/drawingml/2006/main" noGrp="1"/>
          </p:cNvSpPr>
          <p:nvPr/>
        </p:nvSpPr>
        <p:spPr>
          <a:xfrm xmlns:a="http://schemas.openxmlformats.org/drawingml/2006/main">
            <a:off x="5619750" y="1809750"/>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4650" b="1">
                <a:solidFill>
                  <a:srgbClr val="D97706"/>
                </a:solidFill>
                <a:latin typeface="Bitstream Charter"/>
                <a:ea typeface="Bitstream Charter"/>
                <a:cs typeface="Bitstream Charter"/>
              </a:defRPr>
            </a:pPr>
            <a:r>
              <a:rPr sz="4650" b="1">
                <a:solidFill>
                  <a:srgbClr val="D97706"/>
                </a:solidFill>
                <a:latin typeface="Bitstream Charter"/>
                <a:ea typeface="Bitstream Charter"/>
                <a:cs typeface="Bitstream Charter"/>
              </a:rPr>
              <a:t>10</a:t>
            </a:r>
          </a:p>
        </p:txBody>
      </p:sp>
      <p:sp>
        <p:nvSpPr>
          <p:cNvPr id="8" name="">
            <a:extLst xmlns:a="http://schemas.openxmlformats.org/drawingml/2006/main">
              <a:ext uri="{FF2B5EF4-FFF2-40B4-BE49-F238E27FC236}">
                <a16:creationId xmlns:a16="http://schemas.microsoft.com/office/drawing/2014/main" id="{F5759731-74FF-4742-826C-1FD1147F2F8C}"/>
              </a:ext>
            </a:extLst>
          </p:cNvPr>
          <p:cNvSpPr>
            <a:spLocks xmlns:a="http://schemas.openxmlformats.org/drawingml/2006/main" noGrp="1"/>
          </p:cNvSpPr>
          <p:nvPr/>
        </p:nvSpPr>
        <p:spPr>
          <a:xfrm xmlns:a="http://schemas.openxmlformats.org/drawingml/2006/main">
            <a:off x="5619750" y="26193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Postman-Szenarien</a:t>
            </a:r>
          </a:p>
        </p:txBody>
      </p:sp>
      <p:graphicFrame>
        <p:nvGraphicFramePr>
          <p:cNvPr id="21" name="Chart"/>
          <p:cNvGraphicFramePr/>
          <p:nvPr/>
        </p:nvGraphicFramePr>
        <p:xfrm>
          <a:off xmlns:a="http://schemas.openxmlformats.org/drawingml/2006/main" x="8096250" y="1571625"/>
          <a:ext xmlns:a="http://schemas.openxmlformats.org/drawingml/2006/main" cx="3333750" cy="3238500"/>
        </p:xfrm>
        <a:graphic xmlns:a="http://schemas.openxmlformats.org/drawingml/2006/main">
          <a:graphicData uri="http://schemas.openxmlformats.org/drawingml/2006/chart">
            <c:chart xmlns:r="http://schemas.openxmlformats.org/officeDocument/2006/relationships" xmlns:c="http://schemas.openxmlformats.org/drawingml/2006/chart" r:id="Rcd0c4612021745d2"/>
          </a:graphicData>
        </a:graphic>
      </p:graphicFrame>
      <p:sp>
        <p:nvSpPr>
          <p:cNvPr id="10" name="">
            <a:extLst xmlns:a="http://schemas.openxmlformats.org/drawingml/2006/main">
              <a:ext uri="{FF2B5EF4-FFF2-40B4-BE49-F238E27FC236}">
                <a16:creationId xmlns:a16="http://schemas.microsoft.com/office/drawing/2014/main" id="{BC383323-7A91-4195-B807-9798DD61F249}"/>
              </a:ext>
            </a:extLst>
          </p:cNvPr>
          <p:cNvSpPr>
            <a:spLocks xmlns:a="http://schemas.openxmlformats.org/drawingml/2006/main" noGrp="1"/>
          </p:cNvSpPr>
          <p:nvPr/>
        </p:nvSpPr>
        <p:spPr>
          <a:xfrm xmlns:a="http://schemas.openxmlformats.org/drawingml/2006/main">
            <a:off x="8334375" y="48101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Automatisierte Tests nach dem Fix</a:t>
            </a:r>
          </a:p>
        </p:txBody>
      </p:sp>
      <p:sp>
        <p:nvSpPr>
          <p:cNvPr id="11" name="">
            <a:extLst xmlns:a="http://schemas.openxmlformats.org/drawingml/2006/main">
              <a:ext uri="{FF2B5EF4-FFF2-40B4-BE49-F238E27FC236}">
                <a16:creationId xmlns:a16="http://schemas.microsoft.com/office/drawing/2014/main" id="{666CD2F4-3403-4BCD-A743-D116421ABD60}"/>
              </a:ext>
            </a:extLst>
          </p:cNvPr>
          <p:cNvSpPr>
            <a:spLocks xmlns:a="http://schemas.openxmlformats.org/drawingml/2006/main" noGrp="1"/>
          </p:cNvSpPr>
          <p:nvPr/>
        </p:nvSpPr>
        <p:spPr>
          <a:xfrm xmlns:a="http://schemas.openxmlformats.org/drawingml/2006/main">
            <a:off x="952500" y="476250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B4D"/>
                </a:solidFill>
                <a:latin typeface="Bitstream Charter"/>
                <a:ea typeface="Bitstream Charter"/>
                <a:cs typeface="Bitstream Charter"/>
              </a:defRPr>
            </a:pPr>
            <a:r>
              <a:rPr sz="1725" b="0">
                <a:solidFill>
                  <a:srgbClr val="172B4D"/>
                </a:solidFill>
                <a:latin typeface="Bitstream Charter"/>
                <a:ea typeface="Bitstream Charter"/>
                <a:cs typeface="Bitstream Charter"/>
              </a:rPr>
              <a:t>Abgedeckt: Positiv- und Negativfälle, Grenzwerte, Authentifizierung, Autorisierung und Regression</a:t>
            </a:r>
          </a:p>
        </p:txBody>
      </p:sp>
      <p:sp>
        <p:nvSpPr>
          <p:cNvPr id="12" name="">
            <a:extLst xmlns:a="http://schemas.openxmlformats.org/drawingml/2006/main">
              <a:ext uri="{FF2B5EF4-FFF2-40B4-BE49-F238E27FC236}">
                <a16:creationId xmlns:a16="http://schemas.microsoft.com/office/drawing/2014/main" id="{E51952CE-6DED-4599-8544-46A86720BA38}"/>
              </a:ext>
            </a:extLst>
          </p:cNvPr>
          <p:cNvSpPr>
            <a:spLocks xmlns:a="http://schemas.openxmlformats.org/drawingml/2006/main" noGrp="1"/>
          </p:cNvSpPr>
          <p:nvPr/>
        </p:nvSpPr>
        <p:spPr>
          <a:xfrm xmlns:a="http://schemas.openxmlformats.org/drawingml/2006/main">
            <a:off x="685800" y="64960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78909C"/>
                </a:solidFill>
                <a:latin typeface="Bitstream Charter"/>
                <a:ea typeface="Bitstream Charter"/>
                <a:cs typeface="Bitstream Charter"/>
              </a:defRPr>
            </a:pPr>
            <a:r>
              <a:rPr sz="900" b="0">
                <a:solidFill>
                  <a:srgbClr val="78909C"/>
                </a:solidFill>
                <a:latin typeface="Bitstream Charter"/>
                <a:ea typeface="Bitstream Charter"/>
                <a:cs typeface="Bitstream Charter"/>
              </a:rPr>
              <a:t>M450 LB-02   Sladjan Vasic                                      4</a:t>
            </a:r>
          </a:p>
        </p:txBody>
      </p:sp>
    </p:spTree>
    <p:extLst>
      <p:ext uri="{BB962C8B-B14F-4D97-AF65-F5344CB8AC3E}">
        <p14:creationId xmlns:p14="http://schemas.microsoft.com/office/powerpoint/2010/main" val="15711537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2AD8BD-8E44-4F57-9A72-74B9F2B7F724}"/>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02A43"/>
                </a:solidFill>
                <a:latin typeface="Bitstream Charter"/>
                <a:ea typeface="Bitstream Charter"/>
                <a:cs typeface="Bitstream Charter"/>
              </a:defRPr>
            </a:pPr>
            <a:r>
              <a:rPr sz="2700" b="1">
                <a:solidFill>
                  <a:srgbClr val="102A43"/>
                </a:solidFill>
                <a:latin typeface="Bitstream Charter"/>
                <a:ea typeface="Bitstream Charter"/>
                <a:cs typeface="Bitstream Charter"/>
              </a:rPr>
              <a:t>Release-blockierende Defects</a:t>
            </a:r>
          </a:p>
        </p:txBody>
      </p:sp>
      <p:sp>
        <p:nvSpPr>
          <p:cNvPr id="2" name="">
            <a:extLst xmlns:a="http://schemas.openxmlformats.org/drawingml/2006/main">
              <a:ext uri="{FF2B5EF4-FFF2-40B4-BE49-F238E27FC236}">
                <a16:creationId xmlns:a16="http://schemas.microsoft.com/office/drawing/2014/main" id="{4D1EB21F-D49F-4F00-91F4-E5507C6AB890}"/>
              </a:ext>
            </a:extLst>
          </p:cNvPr>
          <p:cNvSpPr>
            <a:spLocks xmlns:a="http://schemas.openxmlformats.org/drawingml/2006/main" noGrp="1"/>
          </p:cNvSpPr>
          <p:nvPr/>
        </p:nvSpPr>
        <p:spPr>
          <a:xfrm xmlns:a="http://schemas.openxmlformats.org/drawingml/2006/main">
            <a:off x="685800" y="9620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67A"/>
                </a:solidFill>
                <a:latin typeface="Bitstream Charter"/>
                <a:ea typeface="Bitstream Charter"/>
                <a:cs typeface="Bitstream Charter"/>
              </a:defRPr>
            </a:pPr>
            <a:r>
              <a:rPr sz="1350" b="0">
                <a:solidFill>
                  <a:srgbClr val="52667A"/>
                </a:solidFill>
                <a:latin typeface="Bitstream Charter"/>
                <a:ea typeface="Bitstream Charter"/>
                <a:cs typeface="Bitstream Charter"/>
              </a:rPr>
              <a:t>Echte API-Evidenz aus Postman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90ff25160a4859"/>
          <a:stretch xmlns:a="http://schemas.openxmlformats.org/drawingml/2006/main"/>
        </p:blipFill>
        <p:spPr>
          <a:xfrm xmlns:a="http://schemas.openxmlformats.org/drawingml/2006/main">
            <a:off x="523875" y="1880635"/>
            <a:ext cx="5429250" cy="271573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af128700baa41b0"/>
          <a:stretch xmlns:a="http://schemas.openxmlformats.org/drawingml/2006/main"/>
        </p:blipFill>
        <p:spPr>
          <a:xfrm xmlns:a="http://schemas.openxmlformats.org/drawingml/2006/main">
            <a:off x="6238875" y="2175744"/>
            <a:ext cx="5429250" cy="212551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BF831F-E350-4EC1-8C16-683218BDF60E}"/>
              </a:ext>
            </a:extLst>
          </p:cNvPr>
          <p:cNvSpPr>
            <a:spLocks xmlns:a="http://schemas.openxmlformats.org/drawingml/2006/main" noGrp="1"/>
          </p:cNvSpPr>
          <p:nvPr/>
        </p:nvSpPr>
        <p:spPr>
          <a:xfrm xmlns:a="http://schemas.openxmlformats.org/drawingml/2006/main">
            <a:off x="714375" y="50958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53B3B"/>
                </a:solidFill>
                <a:latin typeface="Bitstream Charter"/>
                <a:ea typeface="Bitstream Charter"/>
                <a:cs typeface="Bitstream Charter"/>
              </a:defRPr>
            </a:pPr>
            <a:r>
              <a:rPr sz="1650" b="1">
                <a:solidFill>
                  <a:srgbClr val="C53B3B"/>
                </a:solidFill>
                <a:latin typeface="Bitstream Charter"/>
                <a:ea typeface="Bitstream Charter"/>
                <a:cs typeface="Bitstream Charter"/>
              </a:rPr>
              <a:t>DEF-01  Fremde Tasks sichtbar</a:t>
            </a:r>
          </a:p>
        </p:txBody>
      </p:sp>
      <p:sp>
        <p:nvSpPr>
          <p:cNvPr id="6" name="">
            <a:extLst xmlns:a="http://schemas.openxmlformats.org/drawingml/2006/main">
              <a:ext uri="{FF2B5EF4-FFF2-40B4-BE49-F238E27FC236}">
                <a16:creationId xmlns:a16="http://schemas.microsoft.com/office/drawing/2014/main" id="{7C915B20-679B-45AA-BCAC-079539626C66}"/>
              </a:ext>
            </a:extLst>
          </p:cNvPr>
          <p:cNvSpPr>
            <a:spLocks xmlns:a="http://schemas.openxmlformats.org/drawingml/2006/main" noGrp="1"/>
          </p:cNvSpPr>
          <p:nvPr/>
        </p:nvSpPr>
        <p:spPr>
          <a:xfrm xmlns:a="http://schemas.openxmlformats.org/drawingml/2006/main">
            <a:off x="714375" y="54959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2B4D"/>
                </a:solidFill>
                <a:latin typeface="Bitstream Charter"/>
                <a:ea typeface="Bitstream Charter"/>
                <a:cs typeface="Bitstream Charter"/>
              </a:defRPr>
            </a:pPr>
            <a:r>
              <a:rPr sz="1425" b="0">
                <a:solidFill>
                  <a:srgbClr val="172B4D"/>
                </a:solidFill>
                <a:latin typeface="Bitstream Charter"/>
                <a:ea typeface="Bitstream Charter"/>
                <a:cs typeface="Bitstream Charter"/>
              </a:rPr>
              <a:t>Alice sieht t1 und den Task t2 von Bob</a:t>
            </a:r>
          </a:p>
        </p:txBody>
      </p:sp>
      <p:sp>
        <p:nvSpPr>
          <p:cNvPr id="7" name="">
            <a:extLst xmlns:a="http://schemas.openxmlformats.org/drawingml/2006/main">
              <a:ext uri="{FF2B5EF4-FFF2-40B4-BE49-F238E27FC236}">
                <a16:creationId xmlns:a16="http://schemas.microsoft.com/office/drawing/2014/main" id="{D6B73A71-8D3F-44B7-80F2-76E13C07E1C4}"/>
              </a:ext>
            </a:extLst>
          </p:cNvPr>
          <p:cNvSpPr>
            <a:spLocks xmlns:a="http://schemas.openxmlformats.org/drawingml/2006/main" noGrp="1"/>
          </p:cNvSpPr>
          <p:nvPr/>
        </p:nvSpPr>
        <p:spPr>
          <a:xfrm xmlns:a="http://schemas.openxmlformats.org/drawingml/2006/main">
            <a:off x="6429375" y="50958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53B3B"/>
                </a:solidFill>
                <a:latin typeface="Bitstream Charter"/>
                <a:ea typeface="Bitstream Charter"/>
                <a:cs typeface="Bitstream Charter"/>
              </a:defRPr>
            </a:pPr>
            <a:r>
              <a:rPr sz="1650" b="1">
                <a:solidFill>
                  <a:srgbClr val="C53B3B"/>
                </a:solidFill>
                <a:latin typeface="Bitstream Charter"/>
                <a:ea typeface="Bitstream Charter"/>
                <a:cs typeface="Bitstream Charter"/>
              </a:rPr>
              <a:t>DEF-05  Interne Details offengelegt</a:t>
            </a:r>
          </a:p>
        </p:txBody>
      </p:sp>
      <p:sp>
        <p:nvSpPr>
          <p:cNvPr id="8" name="">
            <a:extLst xmlns:a="http://schemas.openxmlformats.org/drawingml/2006/main">
              <a:ext uri="{FF2B5EF4-FFF2-40B4-BE49-F238E27FC236}">
                <a16:creationId xmlns:a16="http://schemas.microsoft.com/office/drawing/2014/main" id="{868952C6-48F2-4833-B5B9-721FB5C0EAC8}"/>
              </a:ext>
            </a:extLst>
          </p:cNvPr>
          <p:cNvSpPr>
            <a:spLocks xmlns:a="http://schemas.openxmlformats.org/drawingml/2006/main" noGrp="1"/>
          </p:cNvSpPr>
          <p:nvPr/>
        </p:nvSpPr>
        <p:spPr>
          <a:xfrm xmlns:a="http://schemas.openxmlformats.org/drawingml/2006/main">
            <a:off x="6429375" y="54959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2B4D"/>
                </a:solidFill>
                <a:latin typeface="Bitstream Charter"/>
                <a:ea typeface="Bitstream Charter"/>
                <a:cs typeface="Bitstream Charter"/>
              </a:defRPr>
            </a:pPr>
            <a:r>
              <a:rPr sz="1425" b="0">
                <a:solidFill>
                  <a:srgbClr val="172B4D"/>
                </a:solidFill>
                <a:latin typeface="Bitstream Charter"/>
                <a:ea typeface="Bitstream Charter"/>
                <a:cs typeface="Bitstream Charter"/>
              </a:rPr>
              <a:t>Ungültiges JSON liefert HTTP 500 mit Dateipfaden</a:t>
            </a:r>
          </a:p>
        </p:txBody>
      </p:sp>
      <p:sp>
        <p:nvSpPr>
          <p:cNvPr id="9" name="">
            <a:extLst xmlns:a="http://schemas.openxmlformats.org/drawingml/2006/main">
              <a:ext uri="{FF2B5EF4-FFF2-40B4-BE49-F238E27FC236}">
                <a16:creationId xmlns:a16="http://schemas.microsoft.com/office/drawing/2014/main" id="{9FD86489-40D2-4BD2-9B22-6CC62879A6F1}"/>
              </a:ext>
            </a:extLst>
          </p:cNvPr>
          <p:cNvSpPr>
            <a:spLocks xmlns:a="http://schemas.openxmlformats.org/drawingml/2006/main" noGrp="1"/>
          </p:cNvSpPr>
          <p:nvPr/>
        </p:nvSpPr>
        <p:spPr>
          <a:xfrm xmlns:a="http://schemas.openxmlformats.org/drawingml/2006/main">
            <a:off x="685800" y="64960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78909C"/>
                </a:solidFill>
                <a:latin typeface="Bitstream Charter"/>
                <a:ea typeface="Bitstream Charter"/>
                <a:cs typeface="Bitstream Charter"/>
              </a:defRPr>
            </a:pPr>
            <a:r>
              <a:rPr sz="900" b="0">
                <a:solidFill>
                  <a:srgbClr val="78909C"/>
                </a:solidFill>
                <a:latin typeface="Bitstream Charter"/>
                <a:ea typeface="Bitstream Charter"/>
                <a:cs typeface="Bitstream Charter"/>
              </a:rPr>
              <a:t>M450 LB-02   Sladjan Vasic                                      5</a:t>
            </a:r>
          </a:p>
        </p:txBody>
      </p:sp>
    </p:spTree>
    <p:extLst>
      <p:ext uri="{BB962C8B-B14F-4D97-AF65-F5344CB8AC3E}">
        <p14:creationId xmlns:p14="http://schemas.microsoft.com/office/powerpoint/2010/main" val="16612139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BFCFA6-4BEC-4651-A1E9-6E3F7AD3017E}"/>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02A43"/>
                </a:solidFill>
                <a:latin typeface="Bitstream Charter"/>
                <a:ea typeface="Bitstream Charter"/>
                <a:cs typeface="Bitstream Charter"/>
              </a:defRPr>
            </a:pPr>
            <a:r>
              <a:rPr sz="2700" b="1">
                <a:solidFill>
                  <a:srgbClr val="102A43"/>
                </a:solidFill>
                <a:latin typeface="Bitstream Charter"/>
                <a:ea typeface="Bitstream Charter"/>
                <a:cs typeface="Bitstream Charter"/>
              </a:rPr>
              <a:t>Korrektur von DEF-02</a:t>
            </a:r>
          </a:p>
        </p:txBody>
      </p:sp>
      <p:sp>
        <p:nvSpPr>
          <p:cNvPr id="2" name="">
            <a:extLst xmlns:a="http://schemas.openxmlformats.org/drawingml/2006/main">
              <a:ext uri="{FF2B5EF4-FFF2-40B4-BE49-F238E27FC236}">
                <a16:creationId xmlns:a16="http://schemas.microsoft.com/office/drawing/2014/main" id="{71F7B55D-8D97-4B2E-82D6-D7A9FA256326}"/>
              </a:ext>
            </a:extLst>
          </p:cNvPr>
          <p:cNvSpPr>
            <a:spLocks xmlns:a="http://schemas.openxmlformats.org/drawingml/2006/main" noGrp="1"/>
          </p:cNvSpPr>
          <p:nvPr/>
        </p:nvSpPr>
        <p:spPr>
          <a:xfrm xmlns:a="http://schemas.openxmlformats.org/drawingml/2006/main">
            <a:off x="685800" y="9620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67A"/>
                </a:solidFill>
                <a:latin typeface="Bitstream Charter"/>
                <a:ea typeface="Bitstream Charter"/>
                <a:cs typeface="Bitstream Charter"/>
              </a:defRPr>
            </a:pPr>
            <a:r>
              <a:rPr sz="1350" b="0">
                <a:solidFill>
                  <a:srgbClr val="52667A"/>
                </a:solidFill>
                <a:latin typeface="Bitstream Charter"/>
                <a:ea typeface="Bitstream Charter"/>
                <a:cs typeface="Bitstream Charter"/>
              </a:rPr>
              <a:t>Mitarbeiter dürfen nur eigene Tasks bearbeiten</a:t>
            </a:r>
          </a:p>
        </p:txBody>
      </p:sp>
      <p:sp>
        <p:nvSpPr>
          <p:cNvPr id="3" name="">
            <a:extLst xmlns:a="http://schemas.openxmlformats.org/drawingml/2006/main">
              <a:ext uri="{FF2B5EF4-FFF2-40B4-BE49-F238E27FC236}">
                <a16:creationId xmlns:a16="http://schemas.microsoft.com/office/drawing/2014/main" id="{582FCFD7-78F1-4C76-85D8-099843E3D073}"/>
              </a:ext>
            </a:extLst>
          </p:cNvPr>
          <p:cNvSpPr>
            <a:spLocks xmlns:a="http://schemas.openxmlformats.org/drawingml/2006/main" noGrp="1"/>
          </p:cNvSpPr>
          <p:nvPr/>
        </p:nvSpPr>
        <p:spPr>
          <a:xfrm xmlns:a="http://schemas.openxmlformats.org/drawingml/2006/main">
            <a:off x="904875" y="16192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C53B3B"/>
                </a:solidFill>
                <a:latin typeface="Bitstream Charter"/>
                <a:ea typeface="Bitstream Charter"/>
                <a:cs typeface="Bitstream Charter"/>
              </a:defRPr>
            </a:pPr>
            <a:r>
              <a:rPr sz="1800" b="1">
                <a:solidFill>
                  <a:srgbClr val="C53B3B"/>
                </a:solidFill>
                <a:latin typeface="Bitstream Charter"/>
                <a:ea typeface="Bitstream Charter"/>
                <a:cs typeface="Bitstream Charter"/>
              </a:rPr>
              <a:t>Vorher</a:t>
            </a:r>
          </a:p>
        </p:txBody>
      </p:sp>
      <p:sp>
        <p:nvSpPr>
          <p:cNvPr id="4" name="">
            <a:extLst xmlns:a="http://schemas.openxmlformats.org/drawingml/2006/main">
              <a:ext uri="{FF2B5EF4-FFF2-40B4-BE49-F238E27FC236}">
                <a16:creationId xmlns:a16="http://schemas.microsoft.com/office/drawing/2014/main" id="{622E99E0-4078-4B0C-8EDF-E4A9F3B26615}"/>
              </a:ext>
            </a:extLst>
          </p:cNvPr>
          <p:cNvSpPr>
            <a:spLocks xmlns:a="http://schemas.openxmlformats.org/drawingml/2006/main" noGrp="1"/>
          </p:cNvSpPr>
          <p:nvPr/>
        </p:nvSpPr>
        <p:spPr>
          <a:xfrm xmlns:a="http://schemas.openxmlformats.org/drawingml/2006/main">
            <a:off x="904875" y="2095500"/>
            <a:ext cx="4762500" cy="1381125"/>
          </a:xfrm>
          <a:prstGeom xmlns:a="http://schemas.openxmlformats.org/drawingml/2006/main" prst="rect">
            <a:avLst/>
          </a:prstGeom>
          <a:solidFill xmlns:a="http://schemas.openxmlformats.org/drawingml/2006/main">
            <a:srgbClr val="FFF2F2"/>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2B4D"/>
                </a:solidFill>
                <a:latin typeface="DejaVu Sans Mono"/>
                <a:ea typeface="DejaVu Sans Mono"/>
                <a:cs typeface="DejaVu Sans Mono"/>
              </a:defRPr>
            </a:pPr>
            <a:r>
              <a:rPr sz="1425" b="0">
                <a:solidFill>
                  <a:srgbClr val="172B4D"/>
                </a:solidFill>
                <a:latin typeface="DejaVu Sans Mono"/>
                <a:ea typeface="DejaVu Sans Mono"/>
                <a:cs typeface="DejaVu Sans Mono"/>
              </a:rPr>
              <a:t>function canEditTask(user, task) {</a:t>
            </a:r>
          </a:p>
          <a:p xmlns:a="http://schemas.openxmlformats.org/drawingml/2006/main">
            <a:pPr algn="l">
              <a:defRPr sz="1425" b="0">
                <a:solidFill>
                  <a:srgbClr val="172B4D"/>
                </a:solidFill>
                <a:latin typeface="DejaVu Sans Mono"/>
                <a:ea typeface="DejaVu Sans Mono"/>
                <a:cs typeface="DejaVu Sans Mono"/>
              </a:defRPr>
            </a:pPr>
            <a:r>
              <a:rPr sz="1425" b="0">
                <a:solidFill>
                  <a:srgbClr val="172B4D"/>
                </a:solidFill>
                <a:latin typeface="DejaVu Sans Mono"/>
                <a:ea typeface="DejaVu Sans Mono"/>
                <a:cs typeface="DejaVu Sans Mono"/>
              </a:rPr>
              <a:t>  return user.role === 'admin' || Boolean(user);</a:t>
            </a:r>
          </a:p>
          <a:p xmlns:a="http://schemas.openxmlformats.org/drawingml/2006/main">
            <a:pPr algn="l">
              <a:defRPr sz="1425" b="0">
                <a:solidFill>
                  <a:srgbClr val="172B4D"/>
                </a:solidFill>
                <a:latin typeface="DejaVu Sans Mono"/>
                <a:ea typeface="DejaVu Sans Mono"/>
                <a:cs typeface="DejaVu Sans Mono"/>
              </a:defRPr>
            </a:pPr>
            <a:r>
              <a:rPr sz="1425" b="0">
                <a:solidFill>
                  <a:srgbClr val="172B4D"/>
                </a:solidFill>
                <a:latin typeface="DejaVu Sans Mono"/>
                <a:ea typeface="DejaVu Sans Mono"/>
                <a:cs typeface="DejaVu Sans Mono"/>
              </a:rPr>
              <a:t>}</a:t>
            </a:r>
          </a:p>
        </p:txBody>
      </p:sp>
      <p:sp>
        <p:nvSpPr>
          <p:cNvPr id="5" name="">
            <a:extLst xmlns:a="http://schemas.openxmlformats.org/drawingml/2006/main">
              <a:ext uri="{FF2B5EF4-FFF2-40B4-BE49-F238E27FC236}">
                <a16:creationId xmlns:a16="http://schemas.microsoft.com/office/drawing/2014/main" id="{542DD016-C9EA-48D1-9DFD-4DA3DA6498F6}"/>
              </a:ext>
            </a:extLst>
          </p:cNvPr>
          <p:cNvSpPr>
            <a:spLocks xmlns:a="http://schemas.openxmlformats.org/drawingml/2006/main" noGrp="1"/>
          </p:cNvSpPr>
          <p:nvPr/>
        </p:nvSpPr>
        <p:spPr>
          <a:xfrm xmlns:a="http://schemas.openxmlformats.org/drawingml/2006/main">
            <a:off x="904875" y="36671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C53B3B"/>
                </a:solidFill>
                <a:latin typeface="Bitstream Charter"/>
                <a:ea typeface="Bitstream Charter"/>
                <a:cs typeface="Bitstream Charter"/>
              </a:defRPr>
            </a:pPr>
            <a:r>
              <a:rPr sz="1575" b="1">
                <a:solidFill>
                  <a:srgbClr val="C53B3B"/>
                </a:solidFill>
                <a:latin typeface="Bitstream Charter"/>
                <a:ea typeface="Bitstream Charter"/>
                <a:cs typeface="Bitstream Charter"/>
              </a:rPr>
              <a:t>Boolean(user) ist für jeden angemeldeten Benutzer wahr</a:t>
            </a:r>
          </a:p>
        </p:txBody>
      </p:sp>
      <p:sp>
        <p:nvSpPr>
          <p:cNvPr id="6" name="">
            <a:extLst xmlns:a="http://schemas.openxmlformats.org/drawingml/2006/main">
              <a:ext uri="{FF2B5EF4-FFF2-40B4-BE49-F238E27FC236}">
                <a16:creationId xmlns:a16="http://schemas.microsoft.com/office/drawing/2014/main" id="{9024F68E-D614-4F2E-B151-6D5A9153A565}"/>
              </a:ext>
            </a:extLst>
          </p:cNvPr>
          <p:cNvSpPr>
            <a:spLocks xmlns:a="http://schemas.openxmlformats.org/drawingml/2006/main" noGrp="1"/>
          </p:cNvSpPr>
          <p:nvPr/>
        </p:nvSpPr>
        <p:spPr>
          <a:xfrm xmlns:a="http://schemas.openxmlformats.org/drawingml/2006/main">
            <a:off x="6524625" y="16192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F7A4D"/>
                </a:solidFill>
                <a:latin typeface="Bitstream Charter"/>
                <a:ea typeface="Bitstream Charter"/>
                <a:cs typeface="Bitstream Charter"/>
              </a:defRPr>
            </a:pPr>
            <a:r>
              <a:rPr sz="1800" b="1">
                <a:solidFill>
                  <a:srgbClr val="1F7A4D"/>
                </a:solidFill>
                <a:latin typeface="Bitstream Charter"/>
                <a:ea typeface="Bitstream Charter"/>
                <a:cs typeface="Bitstream Charter"/>
              </a:rPr>
              <a:t>Nachher</a:t>
            </a:r>
          </a:p>
        </p:txBody>
      </p:sp>
      <p:sp>
        <p:nvSpPr>
          <p:cNvPr id="7" name="">
            <a:extLst xmlns:a="http://schemas.openxmlformats.org/drawingml/2006/main">
              <a:ext uri="{FF2B5EF4-FFF2-40B4-BE49-F238E27FC236}">
                <a16:creationId xmlns:a16="http://schemas.microsoft.com/office/drawing/2014/main" id="{8E2D615B-E2F0-4DCA-9593-83F02DD976F0}"/>
              </a:ext>
            </a:extLst>
          </p:cNvPr>
          <p:cNvSpPr>
            <a:spLocks xmlns:a="http://schemas.openxmlformats.org/drawingml/2006/main" noGrp="1"/>
          </p:cNvSpPr>
          <p:nvPr/>
        </p:nvSpPr>
        <p:spPr>
          <a:xfrm xmlns:a="http://schemas.openxmlformats.org/drawingml/2006/main">
            <a:off x="6524625" y="2095500"/>
            <a:ext cx="4762500" cy="1381125"/>
          </a:xfrm>
          <a:prstGeom xmlns:a="http://schemas.openxmlformats.org/drawingml/2006/main" prst="rect">
            <a:avLst/>
          </a:prstGeom>
          <a:solidFill xmlns:a="http://schemas.openxmlformats.org/drawingml/2006/main">
            <a:srgbClr val="EEF9F3"/>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2B4D"/>
                </a:solidFill>
                <a:latin typeface="DejaVu Sans Mono"/>
                <a:ea typeface="DejaVu Sans Mono"/>
                <a:cs typeface="DejaVu Sans Mono"/>
              </a:defRPr>
            </a:pPr>
            <a:r>
              <a:rPr sz="1425" b="0">
                <a:solidFill>
                  <a:srgbClr val="172B4D"/>
                </a:solidFill>
                <a:latin typeface="DejaVu Sans Mono"/>
                <a:ea typeface="DejaVu Sans Mono"/>
                <a:cs typeface="DejaVu Sans Mono"/>
              </a:rPr>
              <a:t>function canEditTask(user, task) {</a:t>
            </a:r>
          </a:p>
          <a:p xmlns:a="http://schemas.openxmlformats.org/drawingml/2006/main">
            <a:pPr algn="l">
              <a:defRPr sz="1425" b="0">
                <a:solidFill>
                  <a:srgbClr val="172B4D"/>
                </a:solidFill>
                <a:latin typeface="DejaVu Sans Mono"/>
                <a:ea typeface="DejaVu Sans Mono"/>
                <a:cs typeface="DejaVu Sans Mono"/>
              </a:defRPr>
            </a:pPr>
            <a:r>
              <a:rPr sz="1425" b="0">
                <a:solidFill>
                  <a:srgbClr val="172B4D"/>
                </a:solidFill>
                <a:latin typeface="DejaVu Sans Mono"/>
                <a:ea typeface="DejaVu Sans Mono"/>
                <a:cs typeface="DejaVu Sans Mono"/>
              </a:rPr>
              <a:t>  return user.role === 'admin' || task.ownerId === user.id;</a:t>
            </a:r>
          </a:p>
          <a:p xmlns:a="http://schemas.openxmlformats.org/drawingml/2006/main">
            <a:pPr algn="l">
              <a:defRPr sz="1425" b="0">
                <a:solidFill>
                  <a:srgbClr val="172B4D"/>
                </a:solidFill>
                <a:latin typeface="DejaVu Sans Mono"/>
                <a:ea typeface="DejaVu Sans Mono"/>
                <a:cs typeface="DejaVu Sans Mono"/>
              </a:defRPr>
            </a:pPr>
            <a:r>
              <a:rPr sz="1425" b="0">
                <a:solidFill>
                  <a:srgbClr val="172B4D"/>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BF101C35-7C2C-4E55-9F22-EE65B71540A3}"/>
              </a:ext>
            </a:extLst>
          </p:cNvPr>
          <p:cNvSpPr>
            <a:spLocks xmlns:a="http://schemas.openxmlformats.org/drawingml/2006/main" noGrp="1"/>
          </p:cNvSpPr>
          <p:nvPr/>
        </p:nvSpPr>
        <p:spPr>
          <a:xfrm xmlns:a="http://schemas.openxmlformats.org/drawingml/2006/main">
            <a:off x="6524625" y="36671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F7A4D"/>
                </a:solidFill>
                <a:latin typeface="Bitstream Charter"/>
                <a:ea typeface="Bitstream Charter"/>
                <a:cs typeface="Bitstream Charter"/>
              </a:defRPr>
            </a:pPr>
            <a:r>
              <a:rPr sz="1575" b="1">
                <a:solidFill>
                  <a:srgbClr val="1F7A4D"/>
                </a:solidFill>
                <a:latin typeface="Bitstream Charter"/>
                <a:ea typeface="Bitstream Charter"/>
                <a:cs typeface="Bitstream Charter"/>
              </a:rPr>
              <a:t>Eigentümer oder Administrator</a:t>
            </a:r>
          </a:p>
        </p:txBody>
      </p:sp>
      <p:sp>
        <p:nvSpPr>
          <p:cNvPr id="9" name="">
            <a:extLst xmlns:a="http://schemas.openxmlformats.org/drawingml/2006/main">
              <a:ext uri="{FF2B5EF4-FFF2-40B4-BE49-F238E27FC236}">
                <a16:creationId xmlns:a16="http://schemas.microsoft.com/office/drawing/2014/main" id="{E08B5496-86E5-4154-9685-8DD4E892718B}"/>
              </a:ext>
            </a:extLst>
          </p:cNvPr>
          <p:cNvSpPr>
            <a:spLocks xmlns:a="http://schemas.openxmlformats.org/drawingml/2006/main" noGrp="1"/>
          </p:cNvSpPr>
          <p:nvPr/>
        </p:nvSpPr>
        <p:spPr>
          <a:xfrm xmlns:a="http://schemas.openxmlformats.org/drawingml/2006/main">
            <a:off x="1524000" y="5000625"/>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A43"/>
                </a:solidFill>
                <a:latin typeface="Bitstream Charter"/>
                <a:ea typeface="Bitstream Charter"/>
                <a:cs typeface="Bitstream Charter"/>
              </a:defRPr>
            </a:pPr>
            <a:r>
              <a:rPr sz="1875" b="1">
                <a:solidFill>
                  <a:srgbClr val="102A43"/>
                </a:solidFill>
                <a:latin typeface="Bitstream Charter"/>
                <a:ea typeface="Bitstream Charter"/>
                <a:cs typeface="Bitstream Charter"/>
              </a:rPr>
              <a:t>Retest: Bob erhält HTTP 403</a:t>
            </a:r>
          </a:p>
        </p:txBody>
      </p:sp>
      <p:sp>
        <p:nvSpPr>
          <p:cNvPr id="10" name="">
            <a:extLst xmlns:a="http://schemas.openxmlformats.org/drawingml/2006/main">
              <a:ext uri="{FF2B5EF4-FFF2-40B4-BE49-F238E27FC236}">
                <a16:creationId xmlns:a16="http://schemas.microsoft.com/office/drawing/2014/main" id="{4587DCD5-F1E5-410F-A361-5C577072E300}"/>
              </a:ext>
            </a:extLst>
          </p:cNvPr>
          <p:cNvSpPr>
            <a:spLocks xmlns:a="http://schemas.openxmlformats.org/drawingml/2006/main" noGrp="1"/>
          </p:cNvSpPr>
          <p:nvPr/>
        </p:nvSpPr>
        <p:spPr>
          <a:xfrm xmlns:a="http://schemas.openxmlformats.org/drawingml/2006/main">
            <a:off x="6286500" y="500062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A43"/>
                </a:solidFill>
                <a:latin typeface="Bitstream Charter"/>
                <a:ea typeface="Bitstream Charter"/>
                <a:cs typeface="Bitstream Charter"/>
              </a:defRPr>
            </a:pPr>
            <a:r>
              <a:rPr sz="1875" b="1">
                <a:solidFill>
                  <a:srgbClr val="102A43"/>
                </a:solidFill>
                <a:latin typeface="Bitstream Charter"/>
                <a:ea typeface="Bitstream Charter"/>
                <a:cs typeface="Bitstream Charter"/>
              </a:rPr>
              <a:t>Regression: Alice kann t1 weiterhin bearbeiten</a:t>
            </a:r>
          </a:p>
        </p:txBody>
      </p:sp>
      <p:sp>
        <p:nvSpPr>
          <p:cNvPr id="11" name="">
            <a:extLst xmlns:a="http://schemas.openxmlformats.org/drawingml/2006/main">
              <a:ext uri="{FF2B5EF4-FFF2-40B4-BE49-F238E27FC236}">
                <a16:creationId xmlns:a16="http://schemas.microsoft.com/office/drawing/2014/main" id="{6F024117-DB37-49C8-AE80-5E672D10924F}"/>
              </a:ext>
            </a:extLst>
          </p:cNvPr>
          <p:cNvSpPr>
            <a:spLocks xmlns:a="http://schemas.openxmlformats.org/drawingml/2006/main" noGrp="1"/>
          </p:cNvSpPr>
          <p:nvPr/>
        </p:nvSpPr>
        <p:spPr>
          <a:xfrm xmlns:a="http://schemas.openxmlformats.org/drawingml/2006/main">
            <a:off x="685800" y="64960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78909C"/>
                </a:solidFill>
                <a:latin typeface="Bitstream Charter"/>
                <a:ea typeface="Bitstream Charter"/>
                <a:cs typeface="Bitstream Charter"/>
              </a:defRPr>
            </a:pPr>
            <a:r>
              <a:rPr sz="900" b="0">
                <a:solidFill>
                  <a:srgbClr val="78909C"/>
                </a:solidFill>
                <a:latin typeface="Bitstream Charter"/>
                <a:ea typeface="Bitstream Charter"/>
                <a:cs typeface="Bitstream Charter"/>
              </a:rPr>
              <a:t>M450 LB-02   Sladjan Vasic                                      6</a:t>
            </a:r>
          </a:p>
        </p:txBody>
      </p:sp>
    </p:spTree>
    <p:extLst>
      <p:ext uri="{BB962C8B-B14F-4D97-AF65-F5344CB8AC3E}">
        <p14:creationId xmlns:p14="http://schemas.microsoft.com/office/powerpoint/2010/main" val="962220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678ACA-D36A-46E0-AD32-85C8B4F094D5}"/>
              </a:ext>
            </a:extLst>
          </p:cNvPr>
          <p:cNvSpPr>
            <a:spLocks xmlns:a="http://schemas.openxmlformats.org/drawingml/2006/main" noGrp="1"/>
          </p:cNvSpPr>
          <p:nvPr/>
        </p:nvSpPr>
        <p:spPr>
          <a:xfrm xmlns:a="http://schemas.openxmlformats.org/drawingml/2006/main">
            <a:off x="666750" y="400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02A43"/>
                </a:solidFill>
                <a:latin typeface="Bitstream Charter"/>
                <a:ea typeface="Bitstream Charter"/>
                <a:cs typeface="Bitstream Charter"/>
              </a:defRPr>
            </a:pPr>
            <a:r>
              <a:rPr sz="2700" b="1">
                <a:solidFill>
                  <a:srgbClr val="102A43"/>
                </a:solidFill>
                <a:latin typeface="Bitstream Charter"/>
                <a:ea typeface="Bitstream Charter"/>
                <a:cs typeface="Bitstream Charter"/>
              </a:rPr>
              <a:t>Live-Demo</a:t>
            </a:r>
          </a:p>
        </p:txBody>
      </p:sp>
      <p:sp>
        <p:nvSpPr>
          <p:cNvPr id="2" name="">
            <a:extLst xmlns:a="http://schemas.openxmlformats.org/drawingml/2006/main">
              <a:ext uri="{FF2B5EF4-FFF2-40B4-BE49-F238E27FC236}">
                <a16:creationId xmlns:a16="http://schemas.microsoft.com/office/drawing/2014/main" id="{2653CE2E-971E-4D29-93BF-3AD332CA0C1D}"/>
              </a:ext>
            </a:extLst>
          </p:cNvPr>
          <p:cNvSpPr>
            <a:spLocks xmlns:a="http://schemas.openxmlformats.org/drawingml/2006/main" noGrp="1"/>
          </p:cNvSpPr>
          <p:nvPr/>
        </p:nvSpPr>
        <p:spPr>
          <a:xfrm xmlns:a="http://schemas.openxmlformats.org/drawingml/2006/main">
            <a:off x="685800" y="9620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67A"/>
                </a:solidFill>
                <a:latin typeface="Bitstream Charter"/>
                <a:ea typeface="Bitstream Charter"/>
                <a:cs typeface="Bitstream Charter"/>
              </a:defRPr>
            </a:pPr>
            <a:r>
              <a:rPr sz="1350" b="0">
                <a:solidFill>
                  <a:srgbClr val="52667A"/>
                </a:solidFill>
                <a:latin typeface="Bitstream Charter"/>
                <a:ea typeface="Bitstream Charter"/>
                <a:cs typeface="Bitstream Charter"/>
              </a:rPr>
              <a:t>Automatisierter Retest und API-Autorisierung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66cafe267334d7e"/>
          <a:stretch xmlns:a="http://schemas.openxmlformats.org/drawingml/2006/main"/>
        </p:blipFill>
        <p:spPr>
          <a:xfrm xmlns:a="http://schemas.openxmlformats.org/drawingml/2006/main">
            <a:off x="5095875" y="2133413"/>
            <a:ext cx="6572250" cy="24959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681484-8118-43D3-9A90-6DE9BDC0E466}"/>
              </a:ext>
            </a:extLst>
          </p:cNvPr>
          <p:cNvSpPr>
            <a:spLocks xmlns:a="http://schemas.openxmlformats.org/drawingml/2006/main" noGrp="1"/>
          </p:cNvSpPr>
          <p:nvPr/>
        </p:nvSpPr>
        <p:spPr>
          <a:xfrm xmlns:a="http://schemas.openxmlformats.org/drawingml/2006/main">
            <a:off x="809625" y="1762125"/>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364AA"/>
                </a:solidFill>
                <a:latin typeface="Bitstream Charter"/>
                <a:ea typeface="Bitstream Charter"/>
                <a:cs typeface="Bitstream Charter"/>
              </a:defRPr>
            </a:pPr>
            <a:r>
              <a:rPr sz="3375" b="1">
                <a:solidFill>
                  <a:srgbClr val="2364AA"/>
                </a:solidFill>
                <a:latin typeface="Bitstream Charter"/>
                <a:ea typeface="Bitstream Charter"/>
                <a:cs typeface="Bitstream Charter"/>
              </a:rPr>
              <a:t>1</a:t>
            </a:r>
          </a:p>
        </p:txBody>
      </p:sp>
      <p:sp>
        <p:nvSpPr>
          <p:cNvPr id="5" name="">
            <a:extLst xmlns:a="http://schemas.openxmlformats.org/drawingml/2006/main">
              <a:ext uri="{FF2B5EF4-FFF2-40B4-BE49-F238E27FC236}">
                <a16:creationId xmlns:a16="http://schemas.microsoft.com/office/drawing/2014/main" id="{C35AAAAC-CB6D-4DA4-89B2-F0AF65389B32}"/>
              </a:ext>
            </a:extLst>
          </p:cNvPr>
          <p:cNvSpPr>
            <a:spLocks xmlns:a="http://schemas.openxmlformats.org/drawingml/2006/main" noGrp="1"/>
          </p:cNvSpPr>
          <p:nvPr/>
        </p:nvSpPr>
        <p:spPr>
          <a:xfrm xmlns:a="http://schemas.openxmlformats.org/drawingml/2006/main">
            <a:off x="1571625" y="176212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A43"/>
                </a:solidFill>
                <a:latin typeface="DejaVu Sans Mono"/>
                <a:ea typeface="DejaVu Sans Mono"/>
                <a:cs typeface="DejaVu Sans Mono"/>
              </a:defRPr>
            </a:pPr>
            <a:r>
              <a:rPr sz="2100" b="1">
                <a:solidFill>
                  <a:srgbClr val="102A43"/>
                </a:solidFill>
                <a:latin typeface="DejaVu Sans Mono"/>
                <a:ea typeface="DejaVu Sans Mono"/>
                <a:cs typeface="DejaVu Sans Mono"/>
              </a:rPr>
              <a:t>npm test</a:t>
            </a:r>
          </a:p>
        </p:txBody>
      </p:sp>
      <p:sp>
        <p:nvSpPr>
          <p:cNvPr id="6" name="">
            <a:extLst xmlns:a="http://schemas.openxmlformats.org/drawingml/2006/main">
              <a:ext uri="{FF2B5EF4-FFF2-40B4-BE49-F238E27FC236}">
                <a16:creationId xmlns:a16="http://schemas.microsoft.com/office/drawing/2014/main" id="{E4237B78-A86A-486B-9058-7E0C58C8611E}"/>
              </a:ext>
            </a:extLst>
          </p:cNvPr>
          <p:cNvSpPr>
            <a:spLocks xmlns:a="http://schemas.openxmlformats.org/drawingml/2006/main" noGrp="1"/>
          </p:cNvSpPr>
          <p:nvPr/>
        </p:nvSpPr>
        <p:spPr>
          <a:xfrm xmlns:a="http://schemas.openxmlformats.org/drawingml/2006/main">
            <a:off x="1571625" y="236220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67A"/>
                </a:solidFill>
                <a:latin typeface="Bitstream Charter"/>
                <a:ea typeface="Bitstream Charter"/>
                <a:cs typeface="Bitstream Charter"/>
              </a:defRPr>
            </a:pPr>
            <a:r>
              <a:rPr sz="1500" b="0">
                <a:solidFill>
                  <a:srgbClr val="52667A"/>
                </a:solidFill>
                <a:latin typeface="Bitstream Charter"/>
                <a:ea typeface="Bitstream Charter"/>
                <a:cs typeface="Bitstream Charter"/>
              </a:rPr>
              <a:t>DEF-02 und Regression werden grün</a:t>
            </a:r>
          </a:p>
        </p:txBody>
      </p:sp>
      <p:sp>
        <p:nvSpPr>
          <p:cNvPr id="7" name="">
            <a:extLst xmlns:a="http://schemas.openxmlformats.org/drawingml/2006/main">
              <a:ext uri="{FF2B5EF4-FFF2-40B4-BE49-F238E27FC236}">
                <a16:creationId xmlns:a16="http://schemas.microsoft.com/office/drawing/2014/main" id="{16546F46-8BE9-442E-BDE9-48257F1A9074}"/>
              </a:ext>
            </a:extLst>
          </p:cNvPr>
          <p:cNvSpPr>
            <a:spLocks xmlns:a="http://schemas.openxmlformats.org/drawingml/2006/main" noGrp="1"/>
          </p:cNvSpPr>
          <p:nvPr/>
        </p:nvSpPr>
        <p:spPr>
          <a:xfrm xmlns:a="http://schemas.openxmlformats.org/drawingml/2006/main">
            <a:off x="809625" y="3381375"/>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CB1BC"/>
                </a:solidFill>
                <a:latin typeface="Bitstream Charter"/>
                <a:ea typeface="Bitstream Charter"/>
                <a:cs typeface="Bitstream Charter"/>
              </a:defRPr>
            </a:pPr>
            <a:r>
              <a:rPr sz="3375" b="1">
                <a:solidFill>
                  <a:srgbClr val="2CB1BC"/>
                </a:solidFill>
                <a:latin typeface="Bitstream Charter"/>
                <a:ea typeface="Bitstream Charter"/>
                <a:cs typeface="Bitstream Charter"/>
              </a:rPr>
              <a:t>2</a:t>
            </a:r>
          </a:p>
        </p:txBody>
      </p:sp>
      <p:sp>
        <p:nvSpPr>
          <p:cNvPr id="8" name="">
            <a:extLst xmlns:a="http://schemas.openxmlformats.org/drawingml/2006/main">
              <a:ext uri="{FF2B5EF4-FFF2-40B4-BE49-F238E27FC236}">
                <a16:creationId xmlns:a16="http://schemas.microsoft.com/office/drawing/2014/main" id="{F1C5A639-C928-484E-87BF-4454AE07EC8C}"/>
              </a:ext>
            </a:extLst>
          </p:cNvPr>
          <p:cNvSpPr>
            <a:spLocks xmlns:a="http://schemas.openxmlformats.org/drawingml/2006/main" noGrp="1"/>
          </p:cNvSpPr>
          <p:nvPr/>
        </p:nvSpPr>
        <p:spPr>
          <a:xfrm xmlns:a="http://schemas.openxmlformats.org/drawingml/2006/main">
            <a:off x="1571625" y="33813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02A43"/>
                </a:solidFill>
                <a:latin typeface="DejaVu Sans Mono"/>
                <a:ea typeface="DejaVu Sans Mono"/>
                <a:cs typeface="DejaVu Sans Mono"/>
              </a:defRPr>
            </a:pPr>
            <a:r>
              <a:rPr sz="1800" b="1">
                <a:solidFill>
                  <a:srgbClr val="102A43"/>
                </a:solidFill>
                <a:latin typeface="DejaVu Sans Mono"/>
                <a:ea typeface="DejaVu Sans Mono"/>
                <a:cs typeface="DejaVu Sans Mono"/>
              </a:rPr>
              <a:t>PATCH /api/tasks/t1</a:t>
            </a:r>
          </a:p>
        </p:txBody>
      </p:sp>
      <p:sp>
        <p:nvSpPr>
          <p:cNvPr id="9" name="">
            <a:extLst xmlns:a="http://schemas.openxmlformats.org/drawingml/2006/main">
              <a:ext uri="{FF2B5EF4-FFF2-40B4-BE49-F238E27FC236}">
                <a16:creationId xmlns:a16="http://schemas.microsoft.com/office/drawing/2014/main" id="{1B1EEC97-50F6-46EF-BDAA-E4F57234A026}"/>
              </a:ext>
            </a:extLst>
          </p:cNvPr>
          <p:cNvSpPr>
            <a:spLocks xmlns:a="http://schemas.openxmlformats.org/drawingml/2006/main" noGrp="1"/>
          </p:cNvSpPr>
          <p:nvPr/>
        </p:nvSpPr>
        <p:spPr>
          <a:xfrm xmlns:a="http://schemas.openxmlformats.org/drawingml/2006/main">
            <a:off x="1571625" y="4000500"/>
            <a:ext cx="309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67A"/>
                </a:solidFill>
                <a:latin typeface="Bitstream Charter"/>
                <a:ea typeface="Bitstream Charter"/>
                <a:cs typeface="Bitstream Charter"/>
              </a:defRPr>
            </a:pPr>
            <a:r>
              <a:rPr sz="1500" b="0">
                <a:solidFill>
                  <a:srgbClr val="52667A"/>
                </a:solidFill>
                <a:latin typeface="Bitstream Charter"/>
                <a:ea typeface="Bitstream Charter"/>
                <a:cs typeface="Bitstream Charter"/>
              </a:rPr>
              <a:t>Bob erhält HTTP 403 und verändert den Task nicht</a:t>
            </a:r>
          </a:p>
        </p:txBody>
      </p:sp>
      <p:sp>
        <p:nvSpPr>
          <p:cNvPr id="10" name="">
            <a:extLst xmlns:a="http://schemas.openxmlformats.org/drawingml/2006/main">
              <a:ext uri="{FF2B5EF4-FFF2-40B4-BE49-F238E27FC236}">
                <a16:creationId xmlns:a16="http://schemas.microsoft.com/office/drawing/2014/main" id="{D3846E3E-E8D6-4F9D-B494-2EC5E7E00F94}"/>
              </a:ext>
            </a:extLst>
          </p:cNvPr>
          <p:cNvSpPr>
            <a:spLocks xmlns:a="http://schemas.openxmlformats.org/drawingml/2006/main" noGrp="1"/>
          </p:cNvSpPr>
          <p:nvPr/>
        </p:nvSpPr>
        <p:spPr>
          <a:xfrm xmlns:a="http://schemas.openxmlformats.org/drawingml/2006/main">
            <a:off x="1143000" y="561975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F7A4D"/>
                </a:solidFill>
                <a:latin typeface="Bitstream Charter"/>
                <a:ea typeface="Bitstream Charter"/>
                <a:cs typeface="Bitstream Charter"/>
              </a:defRPr>
            </a:pPr>
            <a:r>
              <a:rPr sz="1800" b="1">
                <a:solidFill>
                  <a:srgbClr val="1F7A4D"/>
                </a:solidFill>
                <a:latin typeface="Bitstream Charter"/>
                <a:ea typeface="Bitstream Charter"/>
                <a:cs typeface="Bitstream Charter"/>
              </a:rPr>
              <a:t>Erwartetes Demo-Ergebnis: Schutz vor unberechtigter Änderung</a:t>
            </a:r>
          </a:p>
        </p:txBody>
      </p:sp>
      <p:sp>
        <p:nvSpPr>
          <p:cNvPr id="11" name="">
            <a:extLst xmlns:a="http://schemas.openxmlformats.org/drawingml/2006/main">
              <a:ext uri="{FF2B5EF4-FFF2-40B4-BE49-F238E27FC236}">
                <a16:creationId xmlns:a16="http://schemas.microsoft.com/office/drawing/2014/main" id="{75AC96CA-2642-4AF9-AD05-23CF8AF39C6A}"/>
              </a:ext>
            </a:extLst>
          </p:cNvPr>
          <p:cNvSpPr>
            <a:spLocks xmlns:a="http://schemas.openxmlformats.org/drawingml/2006/main" noGrp="1"/>
          </p:cNvSpPr>
          <p:nvPr/>
        </p:nvSpPr>
        <p:spPr>
          <a:xfrm xmlns:a="http://schemas.openxmlformats.org/drawingml/2006/main">
            <a:off x="685800" y="64960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78909C"/>
                </a:solidFill>
                <a:latin typeface="Bitstream Charter"/>
                <a:ea typeface="Bitstream Charter"/>
                <a:cs typeface="Bitstream Charter"/>
              </a:defRPr>
            </a:pPr>
            <a:r>
              <a:rPr sz="900" b="0">
                <a:solidFill>
                  <a:srgbClr val="78909C"/>
                </a:solidFill>
                <a:latin typeface="Bitstream Charter"/>
                <a:ea typeface="Bitstream Charter"/>
                <a:cs typeface="Bitstream Charter"/>
              </a:rPr>
              <a:t>M450 LB-02   Sladjan Vasic                                      7</a:t>
            </a:r>
          </a:p>
        </p:txBody>
      </p:sp>
    </p:spTree>
    <p:extLst>
      <p:ext uri="{BB962C8B-B14F-4D97-AF65-F5344CB8AC3E}">
        <p14:creationId xmlns:p14="http://schemas.microsoft.com/office/powerpoint/2010/main" val="272167404"/>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A083F1-421F-4F56-A29A-BDF8286CBF82}"/>
              </a:ext>
            </a:extLst>
          </p:cNvPr>
          <p:cNvSpPr>
            <a:spLocks xmlns:a="http://schemas.openxmlformats.org/drawingml/2006/main" noGrp="1"/>
          </p:cNvSpPr>
          <p:nvPr/>
        </p:nvSpPr>
        <p:spPr>
          <a:xfrm xmlns:a="http://schemas.openxmlformats.org/drawingml/2006/main">
            <a:off x="762000" y="619125"/>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FFFFFF"/>
                </a:solidFill>
                <a:latin typeface="Bitstream Charter"/>
                <a:ea typeface="Bitstream Charter"/>
                <a:cs typeface="Bitstream Charter"/>
              </a:defRPr>
            </a:pPr>
            <a:r>
              <a:rPr sz="2850" b="1">
                <a:solidFill>
                  <a:srgbClr val="FFFFFF"/>
                </a:solidFill>
                <a:latin typeface="Bitstream Charter"/>
                <a:ea typeface="Bitstream Charter"/>
                <a:cs typeface="Bitstream Charter"/>
              </a:rPr>
              <a:t>Release-Entscheidung</a:t>
            </a:r>
          </a:p>
        </p:txBody>
      </p:sp>
      <p:sp>
        <p:nvSpPr>
          <p:cNvPr id="2" name="">
            <a:extLst xmlns:a="http://schemas.openxmlformats.org/drawingml/2006/main">
              <a:ext uri="{FF2B5EF4-FFF2-40B4-BE49-F238E27FC236}">
                <a16:creationId xmlns:a16="http://schemas.microsoft.com/office/drawing/2014/main" id="{A87F52E0-B8BB-4247-9C41-D10204B5DD92}"/>
              </a:ext>
            </a:extLst>
          </p:cNvPr>
          <p:cNvSpPr>
            <a:spLocks xmlns:a="http://schemas.openxmlformats.org/drawingml/2006/main" noGrp="1"/>
          </p:cNvSpPr>
          <p:nvPr/>
        </p:nvSpPr>
        <p:spPr>
          <a:xfrm xmlns:a="http://schemas.openxmlformats.org/drawingml/2006/main">
            <a:off x="762000" y="16192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F8A8A"/>
                </a:solidFill>
                <a:latin typeface="Bitstream Charter"/>
                <a:ea typeface="Bitstream Charter"/>
                <a:cs typeface="Bitstream Charter"/>
              </a:defRPr>
            </a:pPr>
            <a:r>
              <a:rPr sz="5700" b="1">
                <a:solidFill>
                  <a:srgbClr val="FF8A8A"/>
                </a:solidFill>
                <a:latin typeface="Bitstream Charter"/>
                <a:ea typeface="Bitstream Charter"/>
                <a:cs typeface="Bitstream Charter"/>
              </a:rPr>
              <a:t>NO-GO</a:t>
            </a:r>
          </a:p>
        </p:txBody>
      </p:sp>
      <p:sp>
        <p:nvSpPr>
          <p:cNvPr id="3" name="">
            <a:extLst xmlns:a="http://schemas.openxmlformats.org/drawingml/2006/main">
              <a:ext uri="{FF2B5EF4-FFF2-40B4-BE49-F238E27FC236}">
                <a16:creationId xmlns:a16="http://schemas.microsoft.com/office/drawing/2014/main" id="{79EF46D9-8CBB-4648-BE8B-89EF2656B2E4}"/>
              </a:ext>
            </a:extLst>
          </p:cNvPr>
          <p:cNvSpPr>
            <a:spLocks xmlns:a="http://schemas.openxmlformats.org/drawingml/2006/main" noGrp="1"/>
          </p:cNvSpPr>
          <p:nvPr/>
        </p:nvSpPr>
        <p:spPr>
          <a:xfrm xmlns:a="http://schemas.openxmlformats.org/drawingml/2006/main">
            <a:off x="762000" y="2809875"/>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FFFFF"/>
                </a:solidFill>
                <a:latin typeface="Bitstream Charter"/>
                <a:ea typeface="Bitstream Charter"/>
                <a:cs typeface="Bitstream Charter"/>
              </a:defRPr>
            </a:pPr>
            <a:r>
              <a:rPr sz="2250" b="1">
                <a:solidFill>
                  <a:srgbClr val="FFFFFF"/>
                </a:solidFill>
                <a:latin typeface="Bitstream Charter"/>
                <a:ea typeface="Bitstream Charter"/>
                <a:cs typeface="Bitstream Charter"/>
              </a:rPr>
              <a:t>Offene Sicherheitsdefects verhindern die Produktivsetzung</a:t>
            </a:r>
          </a:p>
        </p:txBody>
      </p:sp>
      <p:sp>
        <p:nvSpPr>
          <p:cNvPr id="4" name="">
            <a:extLst xmlns:a="http://schemas.openxmlformats.org/drawingml/2006/main">
              <a:ext uri="{FF2B5EF4-FFF2-40B4-BE49-F238E27FC236}">
                <a16:creationId xmlns:a16="http://schemas.microsoft.com/office/drawing/2014/main" id="{3A7EB80B-9544-4969-84A4-D06927399D8C}"/>
              </a:ext>
            </a:extLst>
          </p:cNvPr>
          <p:cNvSpPr>
            <a:spLocks xmlns:a="http://schemas.openxmlformats.org/drawingml/2006/main" noGrp="1"/>
          </p:cNvSpPr>
          <p:nvPr/>
        </p:nvSpPr>
        <p:spPr>
          <a:xfrm xmlns:a="http://schemas.openxmlformats.org/drawingml/2006/main">
            <a:off x="7620000" y="16192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8EDCE6"/>
                </a:solidFill>
                <a:latin typeface="Bitstream Charter"/>
                <a:ea typeface="Bitstream Charter"/>
                <a:cs typeface="Bitstream Charter"/>
              </a:defRPr>
            </a:pPr>
            <a:r>
              <a:rPr sz="1725" b="1">
                <a:solidFill>
                  <a:srgbClr val="8EDCE6"/>
                </a:solidFill>
                <a:latin typeface="Bitstream Charter"/>
                <a:ea typeface="Bitstream Charter"/>
                <a:cs typeface="Bitstream Charter"/>
              </a:rPr>
              <a:t>Vor einem neuen Entscheid</a:t>
            </a:r>
          </a:p>
        </p:txBody>
      </p:sp>
      <p:sp>
        <p:nvSpPr>
          <p:cNvPr id="5" name="">
            <a:extLst xmlns:a="http://schemas.openxmlformats.org/drawingml/2006/main">
              <a:ext uri="{FF2B5EF4-FFF2-40B4-BE49-F238E27FC236}">
                <a16:creationId xmlns:a16="http://schemas.microsoft.com/office/drawing/2014/main" id="{E206DA65-9B6E-4FF3-BD0D-87FE5D7C3205}"/>
              </a:ext>
            </a:extLst>
          </p:cNvPr>
          <p:cNvSpPr>
            <a:spLocks xmlns:a="http://schemas.openxmlformats.org/drawingml/2006/main" noGrp="1"/>
          </p:cNvSpPr>
          <p:nvPr/>
        </p:nvSpPr>
        <p:spPr>
          <a:xfrm xmlns:a="http://schemas.openxmlformats.org/drawingml/2006/main">
            <a:off x="7620000" y="2143125"/>
            <a:ext cx="3810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FFFFFF"/>
                </a:solidFill>
                <a:latin typeface="Bitstream Charter"/>
                <a:ea typeface="Bitstream Charter"/>
                <a:cs typeface="Bitstream Charter"/>
              </a:defRPr>
            </a:pPr>
            <a:r>
              <a:rPr sz="1650" b="0">
                <a:solidFill>
                  <a:srgbClr val="FFFFFF"/>
                </a:solidFill>
                <a:latin typeface="Bitstream Charter"/>
                <a:ea typeface="Bitstream Charter"/>
                <a:cs typeface="Bitstream Charter"/>
              </a:rPr>
              <a:t>DEF-01 und DEF-05 korrigieren</a:t>
            </a:r>
          </a:p>
          <a:p xmlns:a="http://schemas.openxmlformats.org/drawingml/2006/main">
            <a:r>
              <a:t/>
            </a:r>
          </a:p>
          <a:p xmlns:a="http://schemas.openxmlformats.org/drawingml/2006/main">
            <a:pPr algn="l">
              <a:defRPr sz="1650" b="0">
                <a:solidFill>
                  <a:srgbClr val="FFFFFF"/>
                </a:solidFill>
                <a:latin typeface="Bitstream Charter"/>
                <a:ea typeface="Bitstream Charter"/>
                <a:cs typeface="Bitstream Charter"/>
              </a:defRPr>
            </a:pPr>
            <a:r>
              <a:rPr sz="1650" b="0">
                <a:solidFill>
                  <a:srgbClr val="FFFFFF"/>
                </a:solidFill>
                <a:latin typeface="Bitstream Charter"/>
                <a:ea typeface="Bitstream Charter"/>
                <a:cs typeface="Bitstream Charter"/>
              </a:rPr>
              <a:t>Standardpriorität auf MEDIUM setzen</a:t>
            </a:r>
          </a:p>
          <a:p xmlns:a="http://schemas.openxmlformats.org/drawingml/2006/main">
            <a:r>
              <a:t/>
            </a:r>
          </a:p>
          <a:p xmlns:a="http://schemas.openxmlformats.org/drawingml/2006/main">
            <a:pPr algn="l">
              <a:defRPr sz="1650" b="0">
                <a:solidFill>
                  <a:srgbClr val="FFFFFF"/>
                </a:solidFill>
                <a:latin typeface="Bitstream Charter"/>
                <a:ea typeface="Bitstream Charter"/>
                <a:cs typeface="Bitstream Charter"/>
              </a:defRPr>
            </a:pPr>
            <a:r>
              <a:rPr sz="1650" b="0">
                <a:solidFill>
                  <a:srgbClr val="FFFFFF"/>
                </a:solidFill>
                <a:latin typeface="Bitstream Charter"/>
                <a:ea typeface="Bitstream Charter"/>
                <a:cs typeface="Bitstream Charter"/>
              </a:rPr>
              <a:t>Titellänge korrekt validieren</a:t>
            </a:r>
          </a:p>
          <a:p xmlns:a="http://schemas.openxmlformats.org/drawingml/2006/main">
            <a:r>
              <a:t/>
            </a:r>
          </a:p>
          <a:p xmlns:a="http://schemas.openxmlformats.org/drawingml/2006/main">
            <a:pPr algn="l">
              <a:defRPr sz="1650" b="0">
                <a:solidFill>
                  <a:srgbClr val="FFFFFF"/>
                </a:solidFill>
                <a:latin typeface="Bitstream Charter"/>
                <a:ea typeface="Bitstream Charter"/>
                <a:cs typeface="Bitstream Charter"/>
              </a:defRPr>
            </a:pPr>
            <a:r>
              <a:rPr sz="1650" b="0">
                <a:solidFill>
                  <a:srgbClr val="FFFFFF"/>
                </a:solidFill>
                <a:latin typeface="Bitstream Charter"/>
                <a:ea typeface="Bitstream Charter"/>
                <a:cs typeface="Bitstream Charter"/>
              </a:rPr>
              <a:t>Retests und vollständige Regression</a:t>
            </a:r>
          </a:p>
        </p:txBody>
      </p:sp>
      <p:sp>
        <p:nvSpPr>
          <p:cNvPr id="6" name="">
            <a:extLst xmlns:a="http://schemas.openxmlformats.org/drawingml/2006/main">
              <a:ext uri="{FF2B5EF4-FFF2-40B4-BE49-F238E27FC236}">
                <a16:creationId xmlns:a16="http://schemas.microsoft.com/office/drawing/2014/main" id="{132D0331-08D9-46C0-B35B-EFD95A797D43}"/>
              </a:ext>
            </a:extLst>
          </p:cNvPr>
          <p:cNvSpPr>
            <a:spLocks xmlns:a="http://schemas.openxmlformats.org/drawingml/2006/main" noGrp="1"/>
          </p:cNvSpPr>
          <p:nvPr/>
        </p:nvSpPr>
        <p:spPr>
          <a:xfrm xmlns:a="http://schemas.openxmlformats.org/drawingml/2006/main">
            <a:off x="762000" y="4095750"/>
            <a:ext cx="2571750" cy="47625"/>
          </a:xfrm>
          <a:prstGeom xmlns:a="http://schemas.openxmlformats.org/drawingml/2006/main" prst="rect">
            <a:avLst/>
          </a:prstGeom>
          <a:solidFill xmlns:a="http://schemas.openxmlformats.org/drawingml/2006/main">
            <a:srgbClr val="2CB1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8658A5-496B-4CBF-BEEC-3D45C7D54763}"/>
              </a:ext>
            </a:extLst>
          </p:cNvPr>
          <p:cNvSpPr>
            <a:spLocks xmlns:a="http://schemas.openxmlformats.org/drawingml/2006/main" noGrp="1"/>
          </p:cNvSpPr>
          <p:nvPr/>
        </p:nvSpPr>
        <p:spPr>
          <a:xfrm xmlns:a="http://schemas.openxmlformats.org/drawingml/2006/main">
            <a:off x="762000" y="4429125"/>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CFE8FF"/>
                </a:solidFill>
                <a:latin typeface="Bitstream Charter"/>
                <a:ea typeface="Bitstream Charter"/>
                <a:cs typeface="Bitstream Charter"/>
              </a:defRPr>
            </a:pPr>
            <a:r>
              <a:rPr sz="2025" b="0">
                <a:solidFill>
                  <a:srgbClr val="CFE8FF"/>
                </a:solidFill>
                <a:latin typeface="Bitstream Charter"/>
                <a:ea typeface="Bitstream Charter"/>
                <a:cs typeface="Bitstream Charter"/>
              </a:rPr>
              <a:t>Ein GO ist erst vertretbar, wenn keine offenen Defects mit hoher Severity mehr bestehen</a:t>
            </a:r>
          </a:p>
        </p:txBody>
      </p:sp>
      <p:sp>
        <p:nvSpPr>
          <p:cNvPr id="8" name="">
            <a:extLst xmlns:a="http://schemas.openxmlformats.org/drawingml/2006/main">
              <a:ext uri="{FF2B5EF4-FFF2-40B4-BE49-F238E27FC236}">
                <a16:creationId xmlns:a16="http://schemas.microsoft.com/office/drawing/2014/main" id="{5DBA4646-5AA3-4F56-A438-1D1BE158A06F}"/>
              </a:ext>
            </a:extLst>
          </p:cNvPr>
          <p:cNvSpPr>
            <a:spLocks xmlns:a="http://schemas.openxmlformats.org/drawingml/2006/main" noGrp="1"/>
          </p:cNvSpPr>
          <p:nvPr/>
        </p:nvSpPr>
        <p:spPr>
          <a:xfrm xmlns:a="http://schemas.openxmlformats.org/drawingml/2006/main">
            <a:off x="762000" y="60007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Danke</a:t>
            </a:r>
          </a:p>
        </p:txBody>
      </p:sp>
    </p:spTree>
    <p:extLst>
      <p:ext uri="{BB962C8B-B14F-4D97-AF65-F5344CB8AC3E}">
        <p14:creationId xmlns:p14="http://schemas.microsoft.com/office/powerpoint/2010/main" val="1083290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2026-09-16T12:34:03.5790000Z</dcterms:created>
  <dcterms:modified xsi:type="dcterms:W3CDTF">2026-09-16T12:34:03.5800000Z</dcterms:modified>
</coreProperties>
</file>